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42b9551a79543c2" /><Relationship Type="http://schemas.openxmlformats.org/officeDocument/2006/relationships/extended-properties" Target="/docProps/app.xml" Id="R2a8856fb40a04eae" /><Relationship Type="http://schemas.openxmlformats.org/officeDocument/2006/relationships/officeDocument" Target="/ppt/presentation.xml" Id="R79d06e1ce80a4f1c" /></Relationships>
</file>

<file path=ppt/presentation.xml><?xml version="1.0" encoding="utf-8"?>
<p:presentation xmlns:p="http://schemas.openxmlformats.org/presentationml/2006/main">
  <p:sldMasterIdLst>
    <p:sldMasterId xmlns:r="http://schemas.openxmlformats.org/officeDocument/2006/relationships" id="2147483648" r:id="Rd2b48034342e4d95"/>
  </p:sldMasterIdLst>
  <p:notesMasterIdLst>
    <p:notesMasterId xmlns:r="http://schemas.openxmlformats.org/officeDocument/2006/relationships" r:id="R007eee94ccf1486c"/>
  </p:notesMasterIdLst>
  <p:sldIdLst>
    <p:sldId xmlns:r="http://schemas.openxmlformats.org/officeDocument/2006/relationships" id="256" r:id="R5a606f43e82c4906"/>
    <p:sldId xmlns:r="http://schemas.openxmlformats.org/officeDocument/2006/relationships" id="257" r:id="R235625552baf468f"/>
    <p:sldId xmlns:r="http://schemas.openxmlformats.org/officeDocument/2006/relationships" id="258" r:id="Rf85ad78b237f4e2d"/>
    <p:sldId xmlns:r="http://schemas.openxmlformats.org/officeDocument/2006/relationships" id="259" r:id="Rc054b225a7024eca"/>
    <p:sldId xmlns:r="http://schemas.openxmlformats.org/officeDocument/2006/relationships" id="260" r:id="R1a37c9759aff416a"/>
    <p:sldId xmlns:r="http://schemas.openxmlformats.org/officeDocument/2006/relationships" id="261" r:id="R67a57792c6d24d4e"/>
    <p:sldId xmlns:r="http://schemas.openxmlformats.org/officeDocument/2006/relationships" id="262" r:id="Ra47d3b70a0e848c0"/>
    <p:sldId xmlns:r="http://schemas.openxmlformats.org/officeDocument/2006/relationships" id="263" r:id="R68e2bda613ab4502"/>
    <p:sldId xmlns:r="http://schemas.openxmlformats.org/officeDocument/2006/relationships" id="264" r:id="R724d2ce9a463455d"/>
    <p:sldId xmlns:r="http://schemas.openxmlformats.org/officeDocument/2006/relationships" id="265" r:id="Rb842221da950494a"/>
    <p:sldId xmlns:r="http://schemas.openxmlformats.org/officeDocument/2006/relationships" id="266" r:id="Raa1db1de5ccf49b0"/>
    <p:sldId xmlns:r="http://schemas.openxmlformats.org/officeDocument/2006/relationships" id="267" r:id="R7e71b08567b94e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68ee3620314d73" /><Relationship Type="http://schemas.openxmlformats.org/officeDocument/2006/relationships/slideMaster" Target="/ppt/slideMasters/slideMaster1.xml" Id="Rd2b48034342e4d95" /><Relationship Type="http://schemas.openxmlformats.org/officeDocument/2006/relationships/notesMaster" Target="/ppt/notesMasters/notesMaster1.xml" Id="R007eee94ccf1486c" /><Relationship Type="http://schemas.openxmlformats.org/officeDocument/2006/relationships/presProps" Target="/ppt/presProps.xml" Id="Rbfd6fc62a80d4e03" /><Relationship Type="http://schemas.openxmlformats.org/officeDocument/2006/relationships/tableStyles" Target="/ppt/tableStyles.xml" Id="R3d4ef2a755cf495b" /><Relationship Type="http://schemas.openxmlformats.org/officeDocument/2006/relationships/slide" Target="/ppt/slides/slide1.xml" Id="R5a606f43e82c4906" /><Relationship Type="http://schemas.openxmlformats.org/officeDocument/2006/relationships/slide" Target="/ppt/slides/slide2.xml" Id="R235625552baf468f" /><Relationship Type="http://schemas.openxmlformats.org/officeDocument/2006/relationships/slide" Target="/ppt/slides/slide3.xml" Id="Rf85ad78b237f4e2d" /><Relationship Type="http://schemas.openxmlformats.org/officeDocument/2006/relationships/slide" Target="/ppt/slides/slide4.xml" Id="Rc054b225a7024eca" /><Relationship Type="http://schemas.openxmlformats.org/officeDocument/2006/relationships/slide" Target="/ppt/slides/slide5.xml" Id="R1a37c9759aff416a" /><Relationship Type="http://schemas.openxmlformats.org/officeDocument/2006/relationships/slide" Target="/ppt/slides/slide6.xml" Id="R67a57792c6d24d4e" /><Relationship Type="http://schemas.openxmlformats.org/officeDocument/2006/relationships/slide" Target="/ppt/slides/slide7.xml" Id="Ra47d3b70a0e848c0" /><Relationship Type="http://schemas.openxmlformats.org/officeDocument/2006/relationships/slide" Target="/ppt/slides/slide8.xml" Id="R68e2bda613ab4502" /><Relationship Type="http://schemas.openxmlformats.org/officeDocument/2006/relationships/slide" Target="/ppt/slides/slide9.xml" Id="R724d2ce9a463455d" /><Relationship Type="http://schemas.openxmlformats.org/officeDocument/2006/relationships/slide" Target="/ppt/slides/slide10.xml" Id="Rb842221da950494a" /><Relationship Type="http://schemas.openxmlformats.org/officeDocument/2006/relationships/slide" Target="/ppt/slides/slide11.xml" Id="Raa1db1de5ccf49b0" /><Relationship Type="http://schemas.openxmlformats.org/officeDocument/2006/relationships/slide" Target="/ppt/slides/slide12.xml" Id="R7e71b08567b94e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d5748d955743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e40d1260f743e5" /><Relationship Type="http://schemas.openxmlformats.org/officeDocument/2006/relationships/notesMaster" Target="/ppt/notesMasters/notesMaster1.xml" Id="Rac8d51a3b77a43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0863ae8c9e47f1" /><Relationship Type="http://schemas.openxmlformats.org/officeDocument/2006/relationships/notesMaster" Target="/ppt/notesMasters/notesMaster1.xml" Id="R11ccfaa43d334b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9034c965b44842" /><Relationship Type="http://schemas.openxmlformats.org/officeDocument/2006/relationships/notesMaster" Target="/ppt/notesMasters/notesMaster1.xml" Id="R77fdd4b376b149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c940ad589147b6" /><Relationship Type="http://schemas.openxmlformats.org/officeDocument/2006/relationships/notesMaster" Target="/ppt/notesMasters/notesMaster1.xml" Id="Re936ef1f0fc642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65dda5183c47f5" /><Relationship Type="http://schemas.openxmlformats.org/officeDocument/2006/relationships/notesMaster" Target="/ppt/notesMasters/notesMaster1.xml" Id="R81b6ef56b3774f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f8f6726c564c35" /><Relationship Type="http://schemas.openxmlformats.org/officeDocument/2006/relationships/notesMaster" Target="/ppt/notesMasters/notesMaster1.xml" Id="R7c4b9c6b81c244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7c951fac704a89" /><Relationship Type="http://schemas.openxmlformats.org/officeDocument/2006/relationships/notesMaster" Target="/ppt/notesMasters/notesMaster1.xml" Id="R2629dcc2c39747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17b1f26bd949d4" /><Relationship Type="http://schemas.openxmlformats.org/officeDocument/2006/relationships/notesMaster" Target="/ppt/notesMasters/notesMaster1.xml" Id="Ra12e091671d642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0c0c645b7f419c" /><Relationship Type="http://schemas.openxmlformats.org/officeDocument/2006/relationships/notesMaster" Target="/ppt/notesMasters/notesMaster1.xml" Id="R6f45ef5ae28e4f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78d270d79e45aa" /><Relationship Type="http://schemas.openxmlformats.org/officeDocument/2006/relationships/notesMaster" Target="/ppt/notesMasters/notesMaster1.xml" Id="R436cc1b8232740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ea1fe966014cc9" /><Relationship Type="http://schemas.openxmlformats.org/officeDocument/2006/relationships/notesMaster" Target="/ppt/notesMasters/notesMaster1.xml" Id="R9a2d4acf2ad94e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6bff5c89d242b0" /><Relationship Type="http://schemas.openxmlformats.org/officeDocument/2006/relationships/notesMaster" Target="/ppt/notesMasters/notesMaster1.xml" Id="Rdc2cdee966bd4b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name is Muhammad Tayyab, a Diploma in Computer Science student at Methodist College Kuala Lumpur. SlipFlow is a Windows application that converts marketplace order exports into reviewed production instructions. This demonstration uses synthetic records. No factory time saving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Factory staff receive exported orders from TikTok Shop, Shopee and Lazada. The same product can have different seller identifiers and variation formats. Manually transferring these details to a tailor slip creates opportunities for missed or repeated quantities. The screenshot is a real import preview of the supplied synthetic Shopee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workflow involves reading each export, identifying the product, separating colour and size, adding quantities, and preparing a slip. Every transfer is a possible transcription error. SlipFlow keeps the source record available for review instead of replacing it with an unexplained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selects the seller, previews the file and worksheet, confirms the columns, and imports the orders. SlipFlow flags uncertain identities and unknown mappings. The operator reviews these items, reconciles the batch, and explicitly approves it before generating a production slip. PDF export does not mark a batch physically printed.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release works locally on Windows. It reads CSV, XLS and XLSX files, supports seller accounts, and stores data in SQLite. It does not connect to marketplace APIs or a cloud database. The factory mapping and operator review remain the authority for production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mapping screen lets operators create, edit and bulk import factory mappings. Conflicts do not silently overwrite existing entries. Unmapped products stay unresolved. Additional workflows cover seller selection, file preview, selective order-line batching, review, history, settings and backups. Existing batches keep their saved production values when a mapping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 renders the operator screens. A sandboxed preload exposes named IPC functions. The Electron main process validates the sender and arguments before accessing files, parsing spreadsheets, updating SQLite or generating print documents. The renderer has no Node integration. Electron packages the application for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Seller accounts identify the origin of each import. Imported orders retain source values and worksheet row numbers. Production source links connect each grouped item back to its original order lines. Batches store status and reconciled totals. Audit events record changes. The demonstration imports 28 original rows plus 12 repeated rows, excludes the repeated rows, and produces 61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screenshot from the automated operator workflow. It uses the supplied synthetic sample files. The dashboard shows 40 imported rows because 12 rows came from a repeated TikTok file. Production remains 61 units. The batch is ready only after the three unknown products have been reviewed.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verification scripts contribute 45 passing checks. The added release suite contributes 51 passing checks. Two Playwright scenarios drive the complete operator workflow in Electron and confirm persistence after restart. Backup restoration and corruption rejection use temporary databases. The print test includes 120 lines across seven A4 pages. Context isolation, renderer sandboxing, disabled Node integration and IPC allowlisting protect the desktop boundary. These results use synthetic records, not a real factory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fixtures establish tested layouts only. Live marketplace exports can change and require operator confirmation. Physical printer output and real factory use still need field validation. The installer is unsigned. Eight moderate npm findings remain in a development-only packaging dependency chain. Future work should be driven by actual factory feedback, more anonymized marketplace fixtures, signed distribution and broader Windows compatibility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demonstration, select a seller and import a sample export. Show the column preview, then import the repeated file to demonstrate duplicate control. Create a batch and resolve an unknown SKU. Reconcile source and production quantities, approve the batch and export an A4 PDF. Reopen the batch from history and show a verified backup. Finish by explaining that factory deployment and real-printer checks are the next validation steps. The project demonstrates desktop application engineering, database integrity, testing and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39f0c49be7485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bbfa52b79844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96983289314f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e20661b7c1c47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e0ee3607a546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aeb7437ffe4a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3DEAE6-5AE8-40EA-9BAE-7E36D50875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2CE86B-D49C-4065-805E-8D9A8D82B8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636A91E-FCA9-4993-BC07-5C983C8084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554D35-E2D6-48D8-B0A4-B724B8C269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FC5060-A059-4B42-B1A6-356AD061210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F7DF47-FB7F-45C4-9276-B0343752D1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AC11C1-7E17-4AA2-B9A0-8D79F2C031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905C1B-1E3E-4218-8A8B-E0AFA54C7C7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7ED79F-15FE-4FCE-8D2F-40A010816C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944359-D1DA-418A-BECF-C906C68EA05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df5fe492564b8b" /><Relationship Type="http://schemas.openxmlformats.org/officeDocument/2006/relationships/slideLayout" Target="/ppt/slideLayouts/slideLayout1.xml" Id="R9260dca2c1f04bf9" /><Relationship Type="http://schemas.openxmlformats.org/officeDocument/2006/relationships/slideLayout" Target="/ppt/slideLayouts/slideLayout2.xml" Id="R0a4fc6ac0a4a437b" /><Relationship Type="http://schemas.openxmlformats.org/officeDocument/2006/relationships/slideLayout" Target="/ppt/slideLayouts/slideLayout3.xml" Id="Rae101bce55f94d81" /><Relationship Type="http://schemas.openxmlformats.org/officeDocument/2006/relationships/slideLayout" Target="/ppt/slideLayouts/slideLayout4.xml" Id="Rc1aa16bd3f4c45cd" /><Relationship Type="http://schemas.openxmlformats.org/officeDocument/2006/relationships/slideLayout" Target="/ppt/slideLayouts/slideLayout5.xml" Id="Rbf8cc9b64ad34c5c" /><Relationship Type="http://schemas.openxmlformats.org/officeDocument/2006/relationships/slideLayout" Target="/ppt/slideLayouts/slideLayout6.xml" Id="R52c44296f7af48d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60dca2c1f04bf9"/>
    <p:sldLayoutId xmlns:r="http://schemas.openxmlformats.org/officeDocument/2006/relationships" id="2147483650" r:id="R0a4fc6ac0a4a437b"/>
    <p:sldLayoutId xmlns:r="http://schemas.openxmlformats.org/officeDocument/2006/relationships" id="2147483651" r:id="Rae101bce55f94d81"/>
    <p:sldLayoutId xmlns:r="http://schemas.openxmlformats.org/officeDocument/2006/relationships" id="2147483652" r:id="Rc1aa16bd3f4c45cd"/>
    <p:sldLayoutId xmlns:r="http://schemas.openxmlformats.org/officeDocument/2006/relationships" id="2147483653" r:id="Rbf8cc9b64ad34c5c"/>
    <p:sldLayoutId xmlns:r="http://schemas.openxmlformats.org/officeDocument/2006/relationships" id="2147483654" r:id="R52c44296f7af48d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9cc58f81ed455b" /><Relationship Type="http://schemas.openxmlformats.org/officeDocument/2006/relationships/notesSlide" Target="/ppt/notesSlides/notesSlide1.xml" Id="R01f6cccaea9c4a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9df99db33c4fcd" /><Relationship Type="http://schemas.openxmlformats.org/officeDocument/2006/relationships/image" Target="/ppt/media/image.png" Id="R4bfbcc38de1f4088" /><Relationship Type="http://schemas.openxmlformats.org/officeDocument/2006/relationships/notesSlide" Target="/ppt/notesSlides/notesSlide2.xml" Id="R6ffde815631a45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86a31f55a5d4c98" /><Relationship Type="http://schemas.openxmlformats.org/officeDocument/2006/relationships/notesSlide" Target="/ppt/notesSlides/notesSlide3.xml" Id="R259e294f630947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776b03f5794e5a" /><Relationship Type="http://schemas.openxmlformats.org/officeDocument/2006/relationships/notesSlide" Target="/ppt/notesSlides/notesSlide4.xml" Id="R8a0d4ad9748446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691165ca444211" /><Relationship Type="http://schemas.openxmlformats.org/officeDocument/2006/relationships/notesSlide" Target="/ppt/notesSlides/notesSlide5.xml" Id="R5b4542aacbc448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917c407f89144bb" /><Relationship Type="http://schemas.openxmlformats.org/officeDocument/2006/relationships/image" Target="/ppt/media/image2.png" Id="R1524fba2d7e04f3e" /><Relationship Type="http://schemas.openxmlformats.org/officeDocument/2006/relationships/notesSlide" Target="/ppt/notesSlides/notesSlide6.xml" Id="R6097ff6428f246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08c387d42094eec" /><Relationship Type="http://schemas.openxmlformats.org/officeDocument/2006/relationships/notesSlide" Target="/ppt/notesSlides/notesSlide7.xml" Id="R25bf59166af045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8a2ac7b17994f33" /><Relationship Type="http://schemas.openxmlformats.org/officeDocument/2006/relationships/notesSlide" Target="/ppt/notesSlides/notesSlide8.xml" Id="Rafb0d88186304e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389e977eab14f6d" /><Relationship Type="http://schemas.openxmlformats.org/officeDocument/2006/relationships/image" Target="/ppt/media/image3.png" Id="R951a98bd8f7541ad" /><Relationship Type="http://schemas.openxmlformats.org/officeDocument/2006/relationships/notesSlide" Target="/ppt/notesSlides/notesSlide9.xml" Id="Rbb5021c9194544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df24f9082b484d" /><Relationship Type="http://schemas.openxmlformats.org/officeDocument/2006/relationships/notesSlide" Target="/ppt/notesSlides/notesSlide10.xml" Id="R0f996156ad8945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f049040f3804f10" /><Relationship Type="http://schemas.openxmlformats.org/officeDocument/2006/relationships/notesSlide" Target="/ppt/notesSlides/notesSlide11.xml" Id="Rce20c2c1ba484d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d6505207324de0" /><Relationship Type="http://schemas.openxmlformats.org/officeDocument/2006/relationships/image" Target="/ppt/media/image4.png" Id="R34b329adb0d94c2a" /><Relationship Type="http://schemas.openxmlformats.org/officeDocument/2006/relationships/notesSlide" Target="/ppt/notesSlides/notesSlide12.xml" Id="R7819cd313b10407a" /></Relationships>
</file>

<file path=ppt/slides/slide1.xml><?xml version="1.0" encoding="utf-8"?>
<p:sld xmlns:p="http://schemas.openxmlformats.org/presentationml/2006/main">
  <p:cSld>
    <p:bg>
      <p:bgPr>
        <a:solidFill xmlns:a="http://schemas.openxmlformats.org/drawingml/2006/main">
          <a:srgbClr val="1621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22C63A-C463-4D90-91DF-08C52CF7AC65}"/>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SlipFlow</a:t>
            </a:r>
          </a:p>
        </p:txBody>
      </p:sp>
      <p:sp>
        <p:nvSpPr>
          <p:cNvPr id="2" name="">
            <a:extLst xmlns:a="http://schemas.openxmlformats.org/drawingml/2006/main">
              <a:ext uri="{FF2B5EF4-FFF2-40B4-BE49-F238E27FC236}">
                <a16:creationId xmlns:a16="http://schemas.microsoft.com/office/drawing/2014/main" id="{4039C8E1-9C07-471E-8533-B15FB6D284FA}"/>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ACB6CF"/>
                </a:solidFill>
                <a:latin typeface="Arial"/>
                <a:ea typeface="Arial"/>
                <a:cs typeface="Arial"/>
              </a:defRPr>
            </a:defPPr>
          </a:lstStyle>
          <a:p xmlns:a="http://schemas.openxmlformats.org/drawingml/2006/main">
            <a:pPr>
              <a:defRPr sz="1200" b="0">
                <a:solidFill>
                  <a:srgbClr val="ACB6CF"/>
                </a:solidFill>
                <a:latin typeface="Arial"/>
                <a:ea typeface="Arial"/>
                <a:cs typeface="Arial"/>
              </a:defRPr>
            </a:pPr>
            <a:r>
              <a:rPr sz="1200" b="0">
                <a:solidFill>
                  <a:srgbClr val="ACB6CF"/>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EEA7159-B5B1-4A6A-B406-7AF27E795FEA}"/>
              </a:ext>
            </a:extLst>
          </p:cNvPr>
          <p:cNvSpPr>
            <a:spLocks xmlns:a="http://schemas.openxmlformats.org/drawingml/2006/main" noGrp="1"/>
          </p:cNvSpPr>
          <p:nvPr/>
        </p:nvSpPr>
        <p:spPr>
          <a:xfrm xmlns:a="http://schemas.openxmlformats.org/drawingml/2006/main">
            <a:off x="609600" y="2000250"/>
            <a:ext cx="1000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FFFFF"/>
                </a:solidFill>
                <a:latin typeface="Arial"/>
                <a:ea typeface="Arial"/>
                <a:cs typeface="Arial"/>
              </a:defRPr>
            </a:defPPr>
          </a:lstStyle>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Marketplace orders.</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Reviewed production slips.</a:t>
            </a:r>
          </a:p>
        </p:txBody>
      </p:sp>
      <p:sp>
        <p:nvSpPr>
          <p:cNvPr id="4" name="">
            <a:extLst xmlns:a="http://schemas.openxmlformats.org/drawingml/2006/main">
              <a:ext uri="{FF2B5EF4-FFF2-40B4-BE49-F238E27FC236}">
                <a16:creationId xmlns:a16="http://schemas.microsoft.com/office/drawing/2014/main" id="{826FCB9E-1334-40AF-AC66-62928619ACCC}"/>
              </a:ext>
            </a:extLst>
          </p:cNvPr>
          <p:cNvSpPr>
            <a:spLocks xmlns:a="http://schemas.openxmlformats.org/drawingml/2006/main" noGrp="1"/>
          </p:cNvSpPr>
          <p:nvPr/>
        </p:nvSpPr>
        <p:spPr>
          <a:xfrm xmlns:a="http://schemas.openxmlformats.org/drawingml/2006/main">
            <a:off x="647700" y="4067175"/>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BEC9E1"/>
                </a:solidFill>
                <a:latin typeface="Arial"/>
                <a:ea typeface="Arial"/>
                <a:cs typeface="Arial"/>
              </a:defRPr>
            </a:defPPr>
          </a:lstStyle>
          <a:p xmlns:a="http://schemas.openxmlformats.org/drawingml/2006/main">
            <a:pPr>
              <a:defRPr sz="2100" b="0">
                <a:solidFill>
                  <a:srgbClr val="BEC9E1"/>
                </a:solidFill>
                <a:latin typeface="Arial"/>
                <a:ea typeface="Arial"/>
                <a:cs typeface="Arial"/>
              </a:defRPr>
            </a:pPr>
            <a:r>
              <a:rPr sz="2100" b="0">
                <a:solidFill>
                  <a:srgbClr val="BEC9E1"/>
                </a:solidFill>
                <a:latin typeface="Arial"/>
                <a:ea typeface="Arial"/>
                <a:cs typeface="Arial"/>
              </a:rPr>
              <a:t>Offline Windows desktop application</a:t>
            </a:r>
          </a:p>
        </p:txBody>
      </p:sp>
      <p:sp>
        <p:nvSpPr>
          <p:cNvPr id="5" name="">
            <a:extLst xmlns:a="http://schemas.openxmlformats.org/drawingml/2006/main">
              <a:ext uri="{FF2B5EF4-FFF2-40B4-BE49-F238E27FC236}">
                <a16:creationId xmlns:a16="http://schemas.microsoft.com/office/drawing/2014/main" id="{20EC5810-6564-4A27-8632-313DB55EBCB5}"/>
              </a:ext>
            </a:extLst>
          </p:cNvPr>
          <p:cNvSpPr>
            <a:spLocks xmlns:a="http://schemas.openxmlformats.org/drawingml/2006/main" noGrp="1"/>
          </p:cNvSpPr>
          <p:nvPr/>
        </p:nvSpPr>
        <p:spPr>
          <a:xfrm xmlns:a="http://schemas.openxmlformats.org/drawingml/2006/main">
            <a:off x="647700" y="526732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Muhammad Tayyab</a:t>
            </a:r>
          </a:p>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Diploma in Computer Science · Methodist College Kuala Lumpur</a:t>
            </a:r>
          </a:p>
        </p:txBody>
      </p:sp>
    </p:spTree>
    <p:extLst>
      <p:ext uri="{BB962C8B-B14F-4D97-AF65-F5344CB8AC3E}">
        <p14:creationId xmlns:p14="http://schemas.microsoft.com/office/powerpoint/2010/main" val="20438237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7954F7-DEB9-4208-B171-FC7FCFC77E5B}"/>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The manufacturing problem</a:t>
            </a:r>
          </a:p>
        </p:txBody>
      </p:sp>
      <p:sp>
        <p:nvSpPr>
          <p:cNvPr id="2" name="">
            <a:extLst xmlns:a="http://schemas.openxmlformats.org/drawingml/2006/main">
              <a:ext uri="{FF2B5EF4-FFF2-40B4-BE49-F238E27FC236}">
                <a16:creationId xmlns:a16="http://schemas.microsoft.com/office/drawing/2014/main" id="{97A9210A-133E-4A85-909A-4B8832186B0C}"/>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A0FB8D6-C66E-45FE-BE57-71DAE274D537}"/>
              </a:ext>
            </a:extLst>
          </p:cNvPr>
          <p:cNvSpPr>
            <a:spLocks xmlns:a="http://schemas.openxmlformats.org/drawingml/2006/main" noGrp="1"/>
          </p:cNvSpPr>
          <p:nvPr/>
        </p:nvSpPr>
        <p:spPr>
          <a:xfrm xmlns:a="http://schemas.openxmlformats.org/drawingml/2006/main">
            <a:off x="609600" y="152400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2034"/>
                </a:solidFill>
                <a:latin typeface="Arial"/>
                <a:ea typeface="Arial"/>
                <a:cs typeface="Arial"/>
              </a:defRPr>
            </a:defPPr>
          </a:lstStyle>
          <a:p xmlns:a="http://schemas.openxmlformats.org/drawingml/2006/main">
            <a:pPr>
              <a:defRPr sz="2625" b="1">
                <a:solidFill>
                  <a:srgbClr val="182034"/>
                </a:solidFill>
                <a:latin typeface="Arial"/>
                <a:ea typeface="Arial"/>
                <a:cs typeface="Arial"/>
              </a:defRPr>
            </a:pPr>
            <a:r>
              <a:rPr sz="2625" b="1">
                <a:solidFill>
                  <a:srgbClr val="182034"/>
                </a:solidFill>
                <a:latin typeface="Arial"/>
                <a:ea typeface="Arial"/>
                <a:cs typeface="Arial"/>
              </a:rPr>
              <a:t>An order export is not yet</a:t>
            </a:r>
          </a:p>
          <a:p xmlns:a="http://schemas.openxmlformats.org/drawingml/2006/main">
            <a:pPr>
              <a:defRPr sz="2625" b="1">
                <a:solidFill>
                  <a:srgbClr val="182034"/>
                </a:solidFill>
                <a:latin typeface="Arial"/>
                <a:ea typeface="Arial"/>
                <a:cs typeface="Arial"/>
              </a:defRPr>
            </a:pPr>
            <a:r>
              <a:rPr sz="2625" b="1">
                <a:solidFill>
                  <a:srgbClr val="182034"/>
                </a:solidFill>
                <a:latin typeface="Arial"/>
                <a:ea typeface="Arial"/>
                <a:cs typeface="Arial"/>
              </a:rPr>
              <a:t>a production instruction.</a:t>
            </a:r>
          </a:p>
        </p:txBody>
      </p:sp>
      <p:sp>
        <p:nvSpPr>
          <p:cNvPr id="4" name="">
            <a:extLst xmlns:a="http://schemas.openxmlformats.org/drawingml/2006/main">
              <a:ext uri="{FF2B5EF4-FFF2-40B4-BE49-F238E27FC236}">
                <a16:creationId xmlns:a16="http://schemas.microsoft.com/office/drawing/2014/main" id="{2E7852DA-B2B2-4E1E-AD4C-BE3B2ADDB390}"/>
              </a:ext>
            </a:extLst>
          </p:cNvPr>
          <p:cNvSpPr>
            <a:spLocks xmlns:a="http://schemas.openxmlformats.org/drawingml/2006/main" noGrp="1"/>
          </p:cNvSpPr>
          <p:nvPr/>
        </p:nvSpPr>
        <p:spPr>
          <a:xfrm xmlns:a="http://schemas.openxmlformats.org/drawingml/2006/main">
            <a:off x="609600" y="3105150"/>
            <a:ext cx="3905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078"/>
                </a:solidFill>
                <a:latin typeface="Arial"/>
                <a:ea typeface="Arial"/>
                <a:cs typeface="Arial"/>
              </a:defRPr>
            </a:defPPr>
          </a:lstStyle>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Staff must identify the product, interpret its variant and reconcile quantities before sewing starts.</a:t>
            </a:r>
          </a:p>
        </p:txBody>
      </p:sp>
      <p:pic>
        <p:nvPicPr>
          <p:cNvPr id="5" name="">
            <a:extLst xmlns:a="http://schemas.openxmlformats.org/drawingml/2006/main">
              <a:ext uri="{FF2B5EF4-FFF2-40B4-BE49-F238E27FC236}">
                <a16:creationId xmlns:a16="http://schemas.microsoft.com/office/drawing/2014/main" id="{9C115703-C788-4520-8643-D0229FF43F11}"/>
              </a:ext>
            </a:extLst>
          </p:cNvPr>
          <p:cNvPicPr>
            <a:picLocks xmlns:a="http://schemas.openxmlformats.org/drawingml/2006/main" noChangeAspect="1"/>
          </p:cNvPicPr>
          <p:nvPr/>
        </p:nvPicPr>
        <p:blipFill>
          <a:blip xmlns:r="http://schemas.openxmlformats.org/officeDocument/2006/relationships" xmlns:a="http://schemas.openxmlformats.org/drawingml/2006/main" r:embed="R4bfbcc38de1f4088"/>
          <a:stretch xmlns:a="http://schemas.openxmlformats.org/drawingml/2006/main"/>
        </p:blipFill>
        <p:spPr>
          <a:xfrm xmlns:a="http://schemas.openxmlformats.org/drawingml/2006/main">
            <a:off x="4762500" y="1481568"/>
            <a:ext cx="6896100" cy="4504465"/>
          </a:xfrm>
          <a:prstGeom xmlns:a="http://schemas.openxmlformats.org/drawingml/2006/main" prst="rect">
            <a:avLst/>
          </a:prstGeom>
        </p:spPr>
      </p:pic>
    </p:spTree>
    <p:extLst>
      <p:ext uri="{BB962C8B-B14F-4D97-AF65-F5344CB8AC3E}">
        <p14:creationId xmlns:p14="http://schemas.microsoft.com/office/powerpoint/2010/main" val="2735592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64B2B18-2AA2-4605-B804-4465BD74AB1E}"/>
              </a:ext>
            </a:extLst>
          </p:cNvPr>
          <p:cNvCxnSpPr>
            <a:stCxn xmlns:a="http://schemas.openxmlformats.org/drawingml/2006/main" id="6" idx="3"/>
            <a:endCxn xmlns:a="http://schemas.openxmlformats.org/drawingml/2006/main" id="7" idx="1"/>
          </p:cNvCxnSpPr>
          <p:nvPr/>
        </p:nvCxnSpPr>
        <p:spPr>
          <a:xfrm xmlns:a="http://schemas.openxmlformats.org/drawingml/2006/main">
            <a:off x="9324975" y="2809875"/>
            <a:ext cx="2381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0" name="">
            <a:extLst xmlns:a="http://schemas.openxmlformats.org/drawingml/2006/main">
              <a:ext uri="{FF2B5EF4-FFF2-40B4-BE49-F238E27FC236}">
                <a16:creationId xmlns:a16="http://schemas.microsoft.com/office/drawing/2014/main" id="{E5AFA006-E306-48AA-8588-7A2DB1A548B9}"/>
              </a:ext>
            </a:extLst>
          </p:cNvPr>
          <p:cNvCxnSpPr>
            <a:stCxn xmlns:a="http://schemas.openxmlformats.org/drawingml/2006/main" id="5" idx="3"/>
            <a:endCxn xmlns:a="http://schemas.openxmlformats.org/drawingml/2006/main" id="6" idx="1"/>
          </p:cNvCxnSpPr>
          <p:nvPr/>
        </p:nvCxnSpPr>
        <p:spPr>
          <a:xfrm xmlns:a="http://schemas.openxmlformats.org/drawingml/2006/main">
            <a:off x="7086600" y="2809875"/>
            <a:ext cx="2381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9" name="">
            <a:extLst xmlns:a="http://schemas.openxmlformats.org/drawingml/2006/main">
              <a:ext uri="{FF2B5EF4-FFF2-40B4-BE49-F238E27FC236}">
                <a16:creationId xmlns:a16="http://schemas.microsoft.com/office/drawing/2014/main" id="{D9135B9E-B44A-4D6B-9B4E-CC3AD0FBAEB0}"/>
              </a:ext>
            </a:extLst>
          </p:cNvPr>
          <p:cNvCxnSpPr>
            <a:stCxn xmlns:a="http://schemas.openxmlformats.org/drawingml/2006/main" id="4" idx="3"/>
            <a:endCxn xmlns:a="http://schemas.openxmlformats.org/drawingml/2006/main" id="5" idx="1"/>
          </p:cNvCxnSpPr>
          <p:nvPr/>
        </p:nvCxnSpPr>
        <p:spPr>
          <a:xfrm xmlns:a="http://schemas.openxmlformats.org/drawingml/2006/main">
            <a:off x="4848225" y="2809875"/>
            <a:ext cx="2381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8" name="">
            <a:extLst xmlns:a="http://schemas.openxmlformats.org/drawingml/2006/main">
              <a:ext uri="{FF2B5EF4-FFF2-40B4-BE49-F238E27FC236}">
                <a16:creationId xmlns:a16="http://schemas.microsoft.com/office/drawing/2014/main" id="{0C377B2F-78B5-48DD-958A-2775D0BCCBD3}"/>
              </a:ext>
            </a:extLst>
          </p:cNvPr>
          <p:cNvCxnSpPr>
            <a:stCxn xmlns:a="http://schemas.openxmlformats.org/drawingml/2006/main" id="3" idx="3"/>
            <a:endCxn xmlns:a="http://schemas.openxmlformats.org/drawingml/2006/main" id="4" idx="1"/>
          </p:cNvCxnSpPr>
          <p:nvPr/>
        </p:nvCxnSpPr>
        <p:spPr>
          <a:xfrm xmlns:a="http://schemas.openxmlformats.org/drawingml/2006/main">
            <a:off x="2609850" y="2809875"/>
            <a:ext cx="238125" cy="0"/>
          </a:xfrm>
          <a:prstGeom xmlns:a="http://schemas.openxmlformats.org/drawingml/2006/main" prst="straightConnector1">
            <a:avLst/>
          </a:prstGeom>
          <a:ln xmlns:a="http://schemas.openxmlformats.org/drawingml/2006/main" w="28575">
            <a:solidFill>
              <a:srgbClr val="4959DD"/>
            </a:solidFill>
            <a:tailEnd type="arrow" w="med" len="med"/>
          </a:ln>
        </p:spPr>
      </p:cxnSp>
      <p:sp>
        <p:nvSpPr>
          <p:cNvPr id="14" name="">
            <a:extLst xmlns:a="http://schemas.openxmlformats.org/drawingml/2006/main">
              <a:ext uri="{FF2B5EF4-FFF2-40B4-BE49-F238E27FC236}">
                <a16:creationId xmlns:a16="http://schemas.microsoft.com/office/drawing/2014/main" id="{CAE9BF18-A993-4D59-9209-40D723F868D6}"/>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The manual workflow</a:t>
            </a:r>
          </a:p>
        </p:txBody>
      </p:sp>
      <p:sp>
        <p:nvSpPr>
          <p:cNvPr id="2" name="">
            <a:extLst xmlns:a="http://schemas.openxmlformats.org/drawingml/2006/main">
              <a:ext uri="{FF2B5EF4-FFF2-40B4-BE49-F238E27FC236}">
                <a16:creationId xmlns:a16="http://schemas.microsoft.com/office/drawing/2014/main" id="{AC7C16BD-7865-4B4B-A68D-60C2155C3AA3}"/>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CE09BAA-98DF-4C10-A6BC-B58C5397FDBE}"/>
              </a:ext>
            </a:extLst>
          </p:cNvPr>
          <p:cNvSpPr>
            <a:spLocks xmlns:a="http://schemas.openxmlformats.org/drawingml/2006/main" noGrp="1"/>
          </p:cNvSpPr>
          <p:nvPr/>
        </p:nvSpPr>
        <p:spPr>
          <a:xfrm xmlns:a="http://schemas.openxmlformats.org/drawingml/2006/main">
            <a:off x="609600" y="2333625"/>
            <a:ext cx="2000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Read exports</a:t>
            </a:r>
          </a:p>
        </p:txBody>
      </p:sp>
      <p:sp>
        <p:nvSpPr>
          <p:cNvPr id="4" name="">
            <a:extLst xmlns:a="http://schemas.openxmlformats.org/drawingml/2006/main">
              <a:ext uri="{FF2B5EF4-FFF2-40B4-BE49-F238E27FC236}">
                <a16:creationId xmlns:a16="http://schemas.microsoft.com/office/drawing/2014/main" id="{2086E8A0-F924-455C-81C0-AA5ECA648049}"/>
              </a:ext>
            </a:extLst>
          </p:cNvPr>
          <p:cNvSpPr>
            <a:spLocks xmlns:a="http://schemas.openxmlformats.org/drawingml/2006/main" noGrp="1"/>
          </p:cNvSpPr>
          <p:nvPr/>
        </p:nvSpPr>
        <p:spPr>
          <a:xfrm xmlns:a="http://schemas.openxmlformats.org/drawingml/2006/main">
            <a:off x="2847975" y="2333625"/>
            <a:ext cx="2000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Identify SKU</a:t>
            </a:r>
          </a:p>
        </p:txBody>
      </p:sp>
      <p:sp>
        <p:nvSpPr>
          <p:cNvPr id="5" name="">
            <a:extLst xmlns:a="http://schemas.openxmlformats.org/drawingml/2006/main">
              <a:ext uri="{FF2B5EF4-FFF2-40B4-BE49-F238E27FC236}">
                <a16:creationId xmlns:a16="http://schemas.microsoft.com/office/drawing/2014/main" id="{1000C173-FA0F-4A13-9A9A-5FA3316BB095}"/>
              </a:ext>
            </a:extLst>
          </p:cNvPr>
          <p:cNvSpPr>
            <a:spLocks xmlns:a="http://schemas.openxmlformats.org/drawingml/2006/main" noGrp="1"/>
          </p:cNvSpPr>
          <p:nvPr/>
        </p:nvSpPr>
        <p:spPr>
          <a:xfrm xmlns:a="http://schemas.openxmlformats.org/drawingml/2006/main">
            <a:off x="5086350" y="2333625"/>
            <a:ext cx="2000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Check variants</a:t>
            </a:r>
          </a:p>
        </p:txBody>
      </p:sp>
      <p:sp>
        <p:nvSpPr>
          <p:cNvPr id="6" name="">
            <a:extLst xmlns:a="http://schemas.openxmlformats.org/drawingml/2006/main">
              <a:ext uri="{FF2B5EF4-FFF2-40B4-BE49-F238E27FC236}">
                <a16:creationId xmlns:a16="http://schemas.microsoft.com/office/drawing/2014/main" id="{54D4B67F-0F8E-472F-BF71-05ECD4A5C3DE}"/>
              </a:ext>
            </a:extLst>
          </p:cNvPr>
          <p:cNvSpPr>
            <a:spLocks xmlns:a="http://schemas.openxmlformats.org/drawingml/2006/main" noGrp="1"/>
          </p:cNvSpPr>
          <p:nvPr/>
        </p:nvSpPr>
        <p:spPr>
          <a:xfrm xmlns:a="http://schemas.openxmlformats.org/drawingml/2006/main">
            <a:off x="7324725" y="2333625"/>
            <a:ext cx="2000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Add quantities</a:t>
            </a:r>
          </a:p>
        </p:txBody>
      </p:sp>
      <p:sp>
        <p:nvSpPr>
          <p:cNvPr id="7" name="">
            <a:extLst xmlns:a="http://schemas.openxmlformats.org/drawingml/2006/main">
              <a:ext uri="{FF2B5EF4-FFF2-40B4-BE49-F238E27FC236}">
                <a16:creationId xmlns:a16="http://schemas.microsoft.com/office/drawing/2014/main" id="{5EB2761A-A64F-4D23-BD9F-4783458DEC16}"/>
              </a:ext>
            </a:extLst>
          </p:cNvPr>
          <p:cNvSpPr>
            <a:spLocks xmlns:a="http://schemas.openxmlformats.org/drawingml/2006/main" noGrp="1"/>
          </p:cNvSpPr>
          <p:nvPr/>
        </p:nvSpPr>
        <p:spPr>
          <a:xfrm xmlns:a="http://schemas.openxmlformats.org/drawingml/2006/main">
            <a:off x="9563100" y="2333625"/>
            <a:ext cx="2000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Write slips</a:t>
            </a:r>
          </a:p>
        </p:txBody>
      </p:sp>
      <p:sp>
        <p:nvSpPr>
          <p:cNvPr id="12" name="">
            <a:extLst xmlns:a="http://schemas.openxmlformats.org/drawingml/2006/main">
              <a:ext uri="{FF2B5EF4-FFF2-40B4-BE49-F238E27FC236}">
                <a16:creationId xmlns:a16="http://schemas.microsoft.com/office/drawing/2014/main" id="{E5951493-11C3-49CA-AE1C-7226ADE4504B}"/>
              </a:ext>
            </a:extLst>
          </p:cNvPr>
          <p:cNvSpPr>
            <a:spLocks xmlns:a="http://schemas.openxmlformats.org/drawingml/2006/main" noGrp="1"/>
          </p:cNvSpPr>
          <p:nvPr/>
        </p:nvSpPr>
        <p:spPr>
          <a:xfrm xmlns:a="http://schemas.openxmlformats.org/drawingml/2006/main">
            <a:off x="609600" y="41529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82034"/>
                </a:solidFill>
                <a:latin typeface="Arial"/>
                <a:ea typeface="Arial"/>
                <a:cs typeface="Arial"/>
              </a:defRPr>
            </a:defPPr>
          </a:lstStyle>
          <a:p xmlns:a="http://schemas.openxmlformats.org/drawingml/2006/main">
            <a:pPr>
              <a:defRPr sz="2550" b="1">
                <a:solidFill>
                  <a:srgbClr val="182034"/>
                </a:solidFill>
                <a:latin typeface="Arial"/>
                <a:ea typeface="Arial"/>
                <a:cs typeface="Arial"/>
              </a:defRPr>
            </a:pPr>
            <a:r>
              <a:rPr sz="2550" b="1">
                <a:solidFill>
                  <a:srgbClr val="182034"/>
                </a:solidFill>
                <a:latin typeface="Arial"/>
                <a:ea typeface="Arial"/>
                <a:cs typeface="Arial"/>
              </a:rPr>
              <a:t>A repeated file or a misread quantity can change what the factory produces.</a:t>
            </a:r>
          </a:p>
        </p:txBody>
      </p:sp>
      <p:sp>
        <p:nvSpPr>
          <p:cNvPr id="13" name="">
            <a:extLst xmlns:a="http://schemas.openxmlformats.org/drawingml/2006/main">
              <a:ext uri="{FF2B5EF4-FFF2-40B4-BE49-F238E27FC236}">
                <a16:creationId xmlns:a16="http://schemas.microsoft.com/office/drawing/2014/main" id="{644D8D5C-45FF-4AE6-A021-1E4EF625D4B6}"/>
              </a:ext>
            </a:extLst>
          </p:cNvPr>
          <p:cNvSpPr>
            <a:spLocks xmlns:a="http://schemas.openxmlformats.org/drawingml/2006/main" noGrp="1"/>
          </p:cNvSpPr>
          <p:nvPr/>
        </p:nvSpPr>
        <p:spPr>
          <a:xfrm xmlns:a="http://schemas.openxmlformats.org/drawingml/2006/main">
            <a:off x="609600" y="542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36078"/>
                </a:solidFill>
                <a:latin typeface="Arial"/>
                <a:ea typeface="Arial"/>
                <a:cs typeface="Arial"/>
              </a:defRPr>
            </a:defPPr>
          </a:lstStyle>
          <a:p xmlns:a="http://schemas.openxmlformats.org/drawingml/2006/main">
            <a:pPr>
              <a:defRPr sz="2025" b="0">
                <a:solidFill>
                  <a:srgbClr val="536078"/>
                </a:solidFill>
                <a:latin typeface="Arial"/>
                <a:ea typeface="Arial"/>
                <a:cs typeface="Arial"/>
              </a:defRPr>
            </a:pPr>
            <a:r>
              <a:rPr sz="2025" b="0">
                <a:solidFill>
                  <a:srgbClr val="536078"/>
                </a:solidFill>
                <a:latin typeface="Arial"/>
                <a:ea typeface="Arial"/>
                <a:cs typeface="Arial"/>
              </a:rPr>
              <a:t>The design priority is traceable, accurate quantities.</a:t>
            </a:r>
          </a:p>
        </p:txBody>
      </p:sp>
    </p:spTree>
    <p:extLst>
      <p:ext uri="{BB962C8B-B14F-4D97-AF65-F5344CB8AC3E}">
        <p14:creationId xmlns:p14="http://schemas.microsoft.com/office/powerpoint/2010/main" val="18595704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25BC2AAE-0515-448B-980C-8457BDEF6946}"/>
              </a:ext>
            </a:extLst>
          </p:cNvPr>
          <p:cNvCxnSpPr>
            <a:stCxn xmlns:a="http://schemas.openxmlformats.org/drawingml/2006/main" id="7" idx="1"/>
            <a:endCxn xmlns:a="http://schemas.openxmlformats.org/drawingml/2006/main" id="8" idx="3"/>
          </p:cNvCxnSpPr>
          <p:nvPr/>
        </p:nvCxnSpPr>
        <p:spPr>
          <a:xfrm xmlns:a="http://schemas.openxmlformats.org/drawingml/2006/main" flipH="1">
            <a:off x="3752850" y="4238625"/>
            <a:ext cx="6572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2" name="">
            <a:extLst xmlns:a="http://schemas.openxmlformats.org/drawingml/2006/main">
              <a:ext uri="{FF2B5EF4-FFF2-40B4-BE49-F238E27FC236}">
                <a16:creationId xmlns:a16="http://schemas.microsoft.com/office/drawing/2014/main" id="{6F4FA5FB-8DEC-4EBA-A1B9-195554303911}"/>
              </a:ext>
            </a:extLst>
          </p:cNvPr>
          <p:cNvCxnSpPr>
            <a:stCxn xmlns:a="http://schemas.openxmlformats.org/drawingml/2006/main" id="6" idx="1"/>
            <a:endCxn xmlns:a="http://schemas.openxmlformats.org/drawingml/2006/main" id="7" idx="3"/>
          </p:cNvCxnSpPr>
          <p:nvPr/>
        </p:nvCxnSpPr>
        <p:spPr>
          <a:xfrm xmlns:a="http://schemas.openxmlformats.org/drawingml/2006/main" flipH="1">
            <a:off x="7553325" y="4238625"/>
            <a:ext cx="6572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1" name="">
            <a:extLst xmlns:a="http://schemas.openxmlformats.org/drawingml/2006/main">
              <a:ext uri="{FF2B5EF4-FFF2-40B4-BE49-F238E27FC236}">
                <a16:creationId xmlns:a16="http://schemas.microsoft.com/office/drawing/2014/main" id="{4598D32B-90F4-4628-8C79-55F73179B32E}"/>
              </a:ext>
            </a:extLst>
          </p:cNvPr>
          <p:cNvCxnSpPr>
            <a:stCxn xmlns:a="http://schemas.openxmlformats.org/drawingml/2006/main" id="5" idx="2"/>
            <a:endCxn xmlns:a="http://schemas.openxmlformats.org/drawingml/2006/main" id="6" idx="0"/>
          </p:cNvCxnSpPr>
          <p:nvPr/>
        </p:nvCxnSpPr>
        <p:spPr>
          <a:xfrm xmlns:a="http://schemas.openxmlformats.org/drawingml/2006/main">
            <a:off x="9782175" y="2667000"/>
            <a:ext cx="0" cy="1095375"/>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0" name="">
            <a:extLst xmlns:a="http://schemas.openxmlformats.org/drawingml/2006/main">
              <a:ext uri="{FF2B5EF4-FFF2-40B4-BE49-F238E27FC236}">
                <a16:creationId xmlns:a16="http://schemas.microsoft.com/office/drawing/2014/main" id="{85630059-4F38-4B80-9EC1-01EE2F8B51D6}"/>
              </a:ext>
            </a:extLst>
          </p:cNvPr>
          <p:cNvCxnSpPr>
            <a:stCxn xmlns:a="http://schemas.openxmlformats.org/drawingml/2006/main" id="4" idx="3"/>
            <a:endCxn xmlns:a="http://schemas.openxmlformats.org/drawingml/2006/main" id="5" idx="1"/>
          </p:cNvCxnSpPr>
          <p:nvPr/>
        </p:nvCxnSpPr>
        <p:spPr>
          <a:xfrm xmlns:a="http://schemas.openxmlformats.org/drawingml/2006/main">
            <a:off x="7553325" y="2190750"/>
            <a:ext cx="657225"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9" name="">
            <a:extLst xmlns:a="http://schemas.openxmlformats.org/drawingml/2006/main">
              <a:ext uri="{FF2B5EF4-FFF2-40B4-BE49-F238E27FC236}">
                <a16:creationId xmlns:a16="http://schemas.microsoft.com/office/drawing/2014/main" id="{4D722D24-9A46-4971-AACE-82588B4DCF36}"/>
              </a:ext>
            </a:extLst>
          </p:cNvPr>
          <p:cNvCxnSpPr>
            <a:stCxn xmlns:a="http://schemas.openxmlformats.org/drawingml/2006/main" id="3" idx="3"/>
            <a:endCxn xmlns:a="http://schemas.openxmlformats.org/drawingml/2006/main" id="4" idx="1"/>
          </p:cNvCxnSpPr>
          <p:nvPr/>
        </p:nvCxnSpPr>
        <p:spPr>
          <a:xfrm xmlns:a="http://schemas.openxmlformats.org/drawingml/2006/main">
            <a:off x="3752850" y="2190750"/>
            <a:ext cx="657225" cy="0"/>
          </a:xfrm>
          <a:prstGeom xmlns:a="http://schemas.openxmlformats.org/drawingml/2006/main" prst="straightConnector1">
            <a:avLst/>
          </a:prstGeom>
          <a:ln xmlns:a="http://schemas.openxmlformats.org/drawingml/2006/main" w="28575">
            <a:solidFill>
              <a:srgbClr val="4959DD"/>
            </a:solidFill>
            <a:tailEnd type="arrow" w="med" len="med"/>
          </a:ln>
        </p:spPr>
      </p:cxnSp>
      <p:sp>
        <p:nvSpPr>
          <p:cNvPr id="15" name="">
            <a:extLst xmlns:a="http://schemas.openxmlformats.org/drawingml/2006/main">
              <a:ext uri="{FF2B5EF4-FFF2-40B4-BE49-F238E27FC236}">
                <a16:creationId xmlns:a16="http://schemas.microsoft.com/office/drawing/2014/main" id="{A4DDAE48-9A81-4D59-8726-820F57E06BE2}"/>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The SlipFlow workflow</a:t>
            </a:r>
          </a:p>
        </p:txBody>
      </p:sp>
      <p:sp>
        <p:nvSpPr>
          <p:cNvPr id="2" name="">
            <a:extLst xmlns:a="http://schemas.openxmlformats.org/drawingml/2006/main">
              <a:ext uri="{FF2B5EF4-FFF2-40B4-BE49-F238E27FC236}">
                <a16:creationId xmlns:a16="http://schemas.microsoft.com/office/drawing/2014/main" id="{6B65F2A8-6DF7-4B56-BC20-13FBC63C990F}"/>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DD935333-2EB6-4E65-8878-3D497707C36B}"/>
              </a:ext>
            </a:extLst>
          </p:cNvPr>
          <p:cNvSpPr>
            <a:spLocks xmlns:a="http://schemas.openxmlformats.org/drawingml/2006/main" noGrp="1"/>
          </p:cNvSpPr>
          <p:nvPr/>
        </p:nvSpPr>
        <p:spPr>
          <a:xfrm xmlns:a="http://schemas.openxmlformats.org/drawingml/2006/main">
            <a:off x="609600" y="1714500"/>
            <a:ext cx="3143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Select seller</a:t>
            </a:r>
          </a:p>
        </p:txBody>
      </p:sp>
      <p:sp>
        <p:nvSpPr>
          <p:cNvPr id="4" name="">
            <a:extLst xmlns:a="http://schemas.openxmlformats.org/drawingml/2006/main">
              <a:ext uri="{FF2B5EF4-FFF2-40B4-BE49-F238E27FC236}">
                <a16:creationId xmlns:a16="http://schemas.microsoft.com/office/drawing/2014/main" id="{001B656E-F755-4DFA-903D-D281240754E4}"/>
              </a:ext>
            </a:extLst>
          </p:cNvPr>
          <p:cNvSpPr>
            <a:spLocks xmlns:a="http://schemas.openxmlformats.org/drawingml/2006/main" noGrp="1"/>
          </p:cNvSpPr>
          <p:nvPr/>
        </p:nvSpPr>
        <p:spPr>
          <a:xfrm xmlns:a="http://schemas.openxmlformats.org/drawingml/2006/main">
            <a:off x="4410075" y="1714500"/>
            <a:ext cx="3143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Preview import</a:t>
            </a:r>
          </a:p>
        </p:txBody>
      </p:sp>
      <p:sp>
        <p:nvSpPr>
          <p:cNvPr id="5" name="">
            <a:extLst xmlns:a="http://schemas.openxmlformats.org/drawingml/2006/main">
              <a:ext uri="{FF2B5EF4-FFF2-40B4-BE49-F238E27FC236}">
                <a16:creationId xmlns:a16="http://schemas.microsoft.com/office/drawing/2014/main" id="{A9AF3DEE-023C-4580-80A6-AF1082D092FF}"/>
              </a:ext>
            </a:extLst>
          </p:cNvPr>
          <p:cNvSpPr>
            <a:spLocks xmlns:a="http://schemas.openxmlformats.org/drawingml/2006/main" noGrp="1"/>
          </p:cNvSpPr>
          <p:nvPr/>
        </p:nvSpPr>
        <p:spPr>
          <a:xfrm xmlns:a="http://schemas.openxmlformats.org/drawingml/2006/main">
            <a:off x="8210550" y="1714500"/>
            <a:ext cx="3143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Map and group</a:t>
            </a:r>
          </a:p>
        </p:txBody>
      </p:sp>
      <p:sp>
        <p:nvSpPr>
          <p:cNvPr id="6" name="">
            <a:extLst xmlns:a="http://schemas.openxmlformats.org/drawingml/2006/main">
              <a:ext uri="{FF2B5EF4-FFF2-40B4-BE49-F238E27FC236}">
                <a16:creationId xmlns:a16="http://schemas.microsoft.com/office/drawing/2014/main" id="{E7A1053A-6CBE-4689-A181-06C2A7744348}"/>
              </a:ext>
            </a:extLst>
          </p:cNvPr>
          <p:cNvSpPr>
            <a:spLocks xmlns:a="http://schemas.openxmlformats.org/drawingml/2006/main" noGrp="1"/>
          </p:cNvSpPr>
          <p:nvPr/>
        </p:nvSpPr>
        <p:spPr>
          <a:xfrm xmlns:a="http://schemas.openxmlformats.org/drawingml/2006/main">
            <a:off x="8210550" y="3762375"/>
            <a:ext cx="3143250" cy="952500"/>
          </a:xfrm>
          <a:prstGeom xmlns:a="http://schemas.openxmlformats.org/drawingml/2006/main" prst="rect">
            <a:avLst/>
          </a:prstGeom>
          <a:solidFill xmlns:a="http://schemas.openxmlformats.org/drawingml/2006/main">
            <a:srgbClr val="4959DD"/>
          </a:solidFill>
          <a:ln xmlns:a="http://schemas.openxmlformats.org/drawingml/2006/main" w="9525">
            <a:solidFill>
              <a:srgbClr val="4959DD"/>
            </a:solidFill>
          </a:ln>
        </p:spPr>
        <p:txBody>
          <a:bodyPr xmlns:a="http://schemas.openxmlformats.org/drawingml/2006/main" lIns="114300" tIns="114300" rIns="114300" bIns="114300" anchor="ct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Review issues</a:t>
            </a:r>
          </a:p>
        </p:txBody>
      </p:sp>
      <p:sp>
        <p:nvSpPr>
          <p:cNvPr id="7" name="">
            <a:extLst xmlns:a="http://schemas.openxmlformats.org/drawingml/2006/main">
              <a:ext uri="{FF2B5EF4-FFF2-40B4-BE49-F238E27FC236}">
                <a16:creationId xmlns:a16="http://schemas.microsoft.com/office/drawing/2014/main" id="{E8CB1092-5319-4103-8FCD-8AF1A04BE296}"/>
              </a:ext>
            </a:extLst>
          </p:cNvPr>
          <p:cNvSpPr>
            <a:spLocks xmlns:a="http://schemas.openxmlformats.org/drawingml/2006/main" noGrp="1"/>
          </p:cNvSpPr>
          <p:nvPr/>
        </p:nvSpPr>
        <p:spPr>
          <a:xfrm xmlns:a="http://schemas.openxmlformats.org/drawingml/2006/main">
            <a:off x="4410075" y="3762375"/>
            <a:ext cx="3143250" cy="952500"/>
          </a:xfrm>
          <a:prstGeom xmlns:a="http://schemas.openxmlformats.org/drawingml/2006/main" prst="rect">
            <a:avLst/>
          </a:prstGeom>
          <a:solidFill xmlns:a="http://schemas.openxmlformats.org/drawingml/2006/main">
            <a:srgbClr val="4959DD"/>
          </a:solidFill>
          <a:ln xmlns:a="http://schemas.openxmlformats.org/drawingml/2006/main" w="9525">
            <a:solidFill>
              <a:srgbClr val="4959DD"/>
            </a:solidFill>
          </a:ln>
        </p:spPr>
        <p:txBody>
          <a:bodyPr xmlns:a="http://schemas.openxmlformats.org/drawingml/2006/main" lIns="114300" tIns="114300" rIns="114300" bIns="114300" anchor="ct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Approve batch</a:t>
            </a:r>
          </a:p>
        </p:txBody>
      </p:sp>
      <p:sp>
        <p:nvSpPr>
          <p:cNvPr id="8" name="">
            <a:extLst xmlns:a="http://schemas.openxmlformats.org/drawingml/2006/main">
              <a:ext uri="{FF2B5EF4-FFF2-40B4-BE49-F238E27FC236}">
                <a16:creationId xmlns:a16="http://schemas.microsoft.com/office/drawing/2014/main" id="{8BE855BE-9E82-4CC7-B72E-B750B2AF844C}"/>
              </a:ext>
            </a:extLst>
          </p:cNvPr>
          <p:cNvSpPr>
            <a:spLocks xmlns:a="http://schemas.openxmlformats.org/drawingml/2006/main" noGrp="1"/>
          </p:cNvSpPr>
          <p:nvPr/>
        </p:nvSpPr>
        <p:spPr>
          <a:xfrm xmlns:a="http://schemas.openxmlformats.org/drawingml/2006/main">
            <a:off x="609600" y="3762375"/>
            <a:ext cx="3143250" cy="9525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Print and retain</a:t>
            </a:r>
          </a:p>
        </p:txBody>
      </p:sp>
      <p:sp>
        <p:nvSpPr>
          <p:cNvPr id="14" name="">
            <a:extLst xmlns:a="http://schemas.openxmlformats.org/drawingml/2006/main">
              <a:ext uri="{FF2B5EF4-FFF2-40B4-BE49-F238E27FC236}">
                <a16:creationId xmlns:a16="http://schemas.microsoft.com/office/drawing/2014/main" id="{09B05C9D-8030-4D5B-A20C-C65C34331773}"/>
              </a:ext>
            </a:extLst>
          </p:cNvPr>
          <p:cNvSpPr>
            <a:spLocks xmlns:a="http://schemas.openxmlformats.org/drawingml/2006/main" noGrp="1"/>
          </p:cNvSpPr>
          <p:nvPr/>
        </p:nvSpPr>
        <p:spPr>
          <a:xfrm xmlns:a="http://schemas.openxmlformats.org/drawingml/2006/main">
            <a:off x="609600" y="5429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034"/>
                </a:solidFill>
                <a:latin typeface="Arial"/>
                <a:ea typeface="Arial"/>
                <a:cs typeface="Arial"/>
              </a:defRPr>
            </a:defPPr>
          </a:lstStyle>
          <a:p xmlns:a="http://schemas.openxmlformats.org/drawingml/2006/main">
            <a:pPr>
              <a:defRPr sz="2250" b="1">
                <a:solidFill>
                  <a:srgbClr val="182034"/>
                </a:solidFill>
                <a:latin typeface="Arial"/>
                <a:ea typeface="Arial"/>
                <a:cs typeface="Arial"/>
              </a:defRPr>
            </a:pPr>
            <a:r>
              <a:rPr sz="2250" b="1">
                <a:solidFill>
                  <a:srgbClr val="182034"/>
                </a:solidFill>
                <a:latin typeface="Arial"/>
                <a:ea typeface="Arial"/>
                <a:cs typeface="Arial"/>
              </a:rPr>
              <a:t>Operator approval is a required step before production output.</a:t>
            </a:r>
          </a:p>
        </p:txBody>
      </p:sp>
    </p:spTree>
    <p:extLst>
      <p:ext uri="{BB962C8B-B14F-4D97-AF65-F5344CB8AC3E}">
        <p14:creationId xmlns:p14="http://schemas.microsoft.com/office/powerpoint/2010/main" val="8838629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42A339-84DB-4076-A13F-C9764607ABC2}"/>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Objectives and functional scope</a:t>
            </a:r>
          </a:p>
        </p:txBody>
      </p:sp>
      <p:sp>
        <p:nvSpPr>
          <p:cNvPr id="2" name="">
            <a:extLst xmlns:a="http://schemas.openxmlformats.org/drawingml/2006/main">
              <a:ext uri="{FF2B5EF4-FFF2-40B4-BE49-F238E27FC236}">
                <a16:creationId xmlns:a16="http://schemas.microsoft.com/office/drawing/2014/main" id="{9016D15E-38AA-48C1-B308-8B4693CEC487}"/>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87F7E96-4066-4F21-8750-0A5DDDF5A903}"/>
              </a:ext>
            </a:extLst>
          </p:cNvPr>
          <p:cNvSpPr>
            <a:spLocks xmlns:a="http://schemas.openxmlformats.org/drawingml/2006/main" noGrp="1"/>
          </p:cNvSpPr>
          <p:nvPr/>
        </p:nvSpPr>
        <p:spPr>
          <a:xfrm xmlns:a="http://schemas.openxmlformats.org/drawingml/2006/main">
            <a:off x="609600" y="16573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4959DD"/>
                </a:solidFill>
                <a:latin typeface="Arial"/>
                <a:ea typeface="Arial"/>
                <a:cs typeface="Arial"/>
              </a:defRPr>
            </a:defPPr>
          </a:lstStyle>
          <a:p xmlns:a="http://schemas.openxmlformats.org/drawingml/2006/main">
            <a:pPr>
              <a:defRPr sz="1650" b="1">
                <a:solidFill>
                  <a:srgbClr val="4959DD"/>
                </a:solidFill>
                <a:latin typeface="Arial"/>
                <a:ea typeface="Arial"/>
                <a:cs typeface="Arial"/>
              </a:defRPr>
            </a:pPr>
            <a:r>
              <a:rPr sz="1650" b="1">
                <a:solidFill>
                  <a:srgbClr val="4959DD"/>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F7C711DC-42D2-4370-8084-EA1ED0AAD5D1}"/>
              </a:ext>
            </a:extLst>
          </p:cNvPr>
          <p:cNvSpPr>
            <a:spLocks xmlns:a="http://schemas.openxmlformats.org/drawingml/2006/main" noGrp="1"/>
          </p:cNvSpPr>
          <p:nvPr/>
        </p:nvSpPr>
        <p:spPr>
          <a:xfrm xmlns:a="http://schemas.openxmlformats.org/drawingml/2006/main">
            <a:off x="609600" y="22860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2034"/>
                </a:solidFill>
                <a:latin typeface="Arial"/>
                <a:ea typeface="Arial"/>
                <a:cs typeface="Arial"/>
              </a:defRPr>
            </a:defPPr>
          </a:lstStyle>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Marketplace exports</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CSV, XLS and XLSX</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Seller account identity</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Explicit SKU mappings</a:t>
            </a:r>
          </a:p>
        </p:txBody>
      </p:sp>
      <p:sp>
        <p:nvSpPr>
          <p:cNvPr id="5" name="">
            <a:extLst xmlns:a="http://schemas.openxmlformats.org/drawingml/2006/main">
              <a:ext uri="{FF2B5EF4-FFF2-40B4-BE49-F238E27FC236}">
                <a16:creationId xmlns:a16="http://schemas.microsoft.com/office/drawing/2014/main" id="{2118CE7D-86E5-4F6E-AD4A-DED5DAFD4EF1}"/>
              </a:ext>
            </a:extLst>
          </p:cNvPr>
          <p:cNvSpPr>
            <a:spLocks xmlns:a="http://schemas.openxmlformats.org/drawingml/2006/main" noGrp="1"/>
          </p:cNvSpPr>
          <p:nvPr/>
        </p:nvSpPr>
        <p:spPr>
          <a:xfrm xmlns:a="http://schemas.openxmlformats.org/drawingml/2006/main">
            <a:off x="6534150" y="165735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4959DD"/>
                </a:solidFill>
                <a:latin typeface="Arial"/>
                <a:ea typeface="Arial"/>
                <a:cs typeface="Arial"/>
              </a:defRPr>
            </a:defPPr>
          </a:lstStyle>
          <a:p xmlns:a="http://schemas.openxmlformats.org/drawingml/2006/main">
            <a:pPr>
              <a:defRPr sz="1650" b="1">
                <a:solidFill>
                  <a:srgbClr val="4959DD"/>
                </a:solidFill>
                <a:latin typeface="Arial"/>
                <a:ea typeface="Arial"/>
                <a:cs typeface="Arial"/>
              </a:defRPr>
            </a:pPr>
            <a:r>
              <a:rPr sz="1650" b="1">
                <a:solidFill>
                  <a:srgbClr val="4959DD"/>
                </a:solidFill>
                <a:latin typeface="Arial"/>
                <a:ea typeface="Arial"/>
                <a:cs typeface="Arial"/>
              </a:rPr>
              <a:t>OUTPUT</a:t>
            </a:r>
          </a:p>
        </p:txBody>
      </p:sp>
      <p:sp>
        <p:nvSpPr>
          <p:cNvPr id="6" name="">
            <a:extLst xmlns:a="http://schemas.openxmlformats.org/drawingml/2006/main">
              <a:ext uri="{FF2B5EF4-FFF2-40B4-BE49-F238E27FC236}">
                <a16:creationId xmlns:a16="http://schemas.microsoft.com/office/drawing/2014/main" id="{7AF74A0F-DC9C-4EA1-92B5-6F7C8A8815B8}"/>
              </a:ext>
            </a:extLst>
          </p:cNvPr>
          <p:cNvSpPr>
            <a:spLocks xmlns:a="http://schemas.openxmlformats.org/drawingml/2006/main" noGrp="1"/>
          </p:cNvSpPr>
          <p:nvPr/>
        </p:nvSpPr>
        <p:spPr>
          <a:xfrm xmlns:a="http://schemas.openxmlformats.org/drawingml/2006/main">
            <a:off x="6534150" y="2286000"/>
            <a:ext cx="50482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182034"/>
                </a:solidFill>
                <a:latin typeface="Arial"/>
                <a:ea typeface="Arial"/>
                <a:cs typeface="Arial"/>
              </a:defRPr>
            </a:defPPr>
          </a:lstStyle>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Reviewed batch quantities</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Readable A4 tailor slips</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PDF and native printing</a:t>
            </a:r>
          </a:p>
          <a:p xmlns:a="http://schemas.openxmlformats.org/drawingml/2006/main">
            <a:pPr>
              <a:defRPr sz="2550" b="0">
                <a:solidFill>
                  <a:srgbClr val="182034"/>
                </a:solidFill>
                <a:latin typeface="Arial"/>
                <a:ea typeface="Arial"/>
                <a:cs typeface="Arial"/>
              </a:defRPr>
            </a:pPr>
            <a:r>
              <a:rPr sz="2550" b="0">
                <a:solidFill>
                  <a:srgbClr val="182034"/>
                </a:solidFill>
                <a:latin typeface="Arial"/>
                <a:ea typeface="Arial"/>
                <a:cs typeface="Arial"/>
              </a:rPr>
              <a:t>History and recovery copies</a:t>
            </a:r>
          </a:p>
        </p:txBody>
      </p:sp>
      <p:sp>
        <p:nvSpPr>
          <p:cNvPr id="7" name="">
            <a:extLst xmlns:a="http://schemas.openxmlformats.org/drawingml/2006/main">
              <a:ext uri="{FF2B5EF4-FFF2-40B4-BE49-F238E27FC236}">
                <a16:creationId xmlns:a16="http://schemas.microsoft.com/office/drawing/2014/main" id="{007C5683-2E60-4DAA-95FC-A94C36792151}"/>
              </a:ext>
            </a:extLst>
          </p:cNvPr>
          <p:cNvSpPr>
            <a:spLocks xmlns:a="http://schemas.openxmlformats.org/drawingml/2006/main" noGrp="1"/>
          </p:cNvSpPr>
          <p:nvPr/>
        </p:nvSpPr>
        <p:spPr>
          <a:xfrm xmlns:a="http://schemas.openxmlformats.org/drawingml/2006/main">
            <a:off x="609600" y="56959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078"/>
                </a:solidFill>
                <a:latin typeface="Arial"/>
                <a:ea typeface="Arial"/>
                <a:cs typeface="Arial"/>
              </a:defRPr>
            </a:defPPr>
          </a:lstStyle>
          <a:p xmlns:a="http://schemas.openxmlformats.org/drawingml/2006/main">
            <a:pPr>
              <a:defRPr sz="1875" b="0">
                <a:solidFill>
                  <a:srgbClr val="536078"/>
                </a:solidFill>
                <a:latin typeface="Arial"/>
                <a:ea typeface="Arial"/>
                <a:cs typeface="Arial"/>
              </a:defRPr>
            </a:pPr>
            <a:r>
              <a:rPr sz="1875" b="0">
                <a:solidFill>
                  <a:srgbClr val="536078"/>
                </a:solidFill>
                <a:latin typeface="Arial"/>
                <a:ea typeface="Arial"/>
                <a:cs typeface="Arial"/>
              </a:rPr>
              <a:t>Local SQLite storage. No server or marketplace credentials required.</a:t>
            </a:r>
          </a:p>
        </p:txBody>
      </p:sp>
    </p:spTree>
    <p:extLst>
      <p:ext uri="{BB962C8B-B14F-4D97-AF65-F5344CB8AC3E}">
        <p14:creationId xmlns:p14="http://schemas.microsoft.com/office/powerpoint/2010/main" val="4186246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5DF1375-3666-450F-80A3-144602C5A1EA}"/>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Main features</a:t>
            </a:r>
          </a:p>
        </p:txBody>
      </p:sp>
      <p:sp>
        <p:nvSpPr>
          <p:cNvPr id="2" name="">
            <a:extLst xmlns:a="http://schemas.openxmlformats.org/drawingml/2006/main">
              <a:ext uri="{FF2B5EF4-FFF2-40B4-BE49-F238E27FC236}">
                <a16:creationId xmlns:a16="http://schemas.microsoft.com/office/drawing/2014/main" id="{D80B1F44-99BD-442F-8410-FFE89277A281}"/>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06</a:t>
            </a:r>
          </a:p>
        </p:txBody>
      </p:sp>
      <p:pic>
        <p:nvPicPr>
          <p:cNvPr id="3" name="">
            <a:extLst xmlns:a="http://schemas.openxmlformats.org/drawingml/2006/main">
              <a:ext uri="{FF2B5EF4-FFF2-40B4-BE49-F238E27FC236}">
                <a16:creationId xmlns:a16="http://schemas.microsoft.com/office/drawing/2014/main" id="{47291589-4703-40E8-8EFB-84DD275C9253}"/>
              </a:ext>
            </a:extLst>
          </p:cNvPr>
          <p:cNvPicPr>
            <a:picLocks xmlns:a="http://schemas.openxmlformats.org/drawingml/2006/main" noChangeAspect="1"/>
          </p:cNvPicPr>
          <p:nvPr/>
        </p:nvPicPr>
        <p:blipFill>
          <a:blip xmlns:r="http://schemas.openxmlformats.org/officeDocument/2006/relationships" xmlns:a="http://schemas.openxmlformats.org/drawingml/2006/main" r:embed="R1524fba2d7e04f3e"/>
          <a:stretch xmlns:a="http://schemas.openxmlformats.org/drawingml/2006/main"/>
        </p:blipFill>
        <p:spPr>
          <a:xfrm xmlns:a="http://schemas.openxmlformats.org/drawingml/2006/main">
            <a:off x="968952" y="1524000"/>
            <a:ext cx="6853670"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EACE29-B2C2-4BB7-B8C2-2D42DB36F2AA}"/>
              </a:ext>
            </a:extLst>
          </p:cNvPr>
          <p:cNvSpPr>
            <a:spLocks xmlns:a="http://schemas.openxmlformats.org/drawingml/2006/main" noGrp="1"/>
          </p:cNvSpPr>
          <p:nvPr/>
        </p:nvSpPr>
        <p:spPr>
          <a:xfrm xmlns:a="http://schemas.openxmlformats.org/drawingml/2006/main">
            <a:off x="8572500" y="17907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034"/>
                </a:solidFill>
                <a:latin typeface="Arial"/>
                <a:ea typeface="Arial"/>
                <a:cs typeface="Arial"/>
              </a:defRPr>
            </a:defPPr>
          </a:lstStyle>
          <a:p xmlns:a="http://schemas.openxmlformats.org/drawingml/2006/main">
            <a:pPr>
              <a:defRPr sz="2250" b="1">
                <a:solidFill>
                  <a:srgbClr val="182034"/>
                </a:solidFill>
                <a:latin typeface="Arial"/>
                <a:ea typeface="Arial"/>
                <a:cs typeface="Arial"/>
              </a:defRPr>
            </a:pPr>
            <a:r>
              <a:rPr sz="2250" b="1">
                <a:solidFill>
                  <a:srgbClr val="182034"/>
                </a:solidFill>
                <a:latin typeface="Arial"/>
                <a:ea typeface="Arial"/>
                <a:cs typeface="Arial"/>
              </a:rPr>
              <a:t>Explicit mappings</a:t>
            </a:r>
          </a:p>
        </p:txBody>
      </p:sp>
      <p:sp>
        <p:nvSpPr>
          <p:cNvPr id="5" name="">
            <a:extLst xmlns:a="http://schemas.openxmlformats.org/drawingml/2006/main">
              <a:ext uri="{FF2B5EF4-FFF2-40B4-BE49-F238E27FC236}">
                <a16:creationId xmlns:a16="http://schemas.microsoft.com/office/drawing/2014/main" id="{C3D26614-3C13-4AB9-9BD0-CE5B13A80BA0}"/>
              </a:ext>
            </a:extLst>
          </p:cNvPr>
          <p:cNvSpPr>
            <a:spLocks xmlns:a="http://schemas.openxmlformats.org/drawingml/2006/main" noGrp="1"/>
          </p:cNvSpPr>
          <p:nvPr/>
        </p:nvSpPr>
        <p:spPr>
          <a:xfrm xmlns:a="http://schemas.openxmlformats.org/drawingml/2006/main">
            <a:off x="8572500" y="2800350"/>
            <a:ext cx="2952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078"/>
                </a:solidFill>
                <a:latin typeface="Arial"/>
                <a:ea typeface="Arial"/>
                <a:cs typeface="Arial"/>
              </a:defRPr>
            </a:defPPr>
          </a:lstStyle>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Variant review</a:t>
            </a:r>
          </a:p>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Duplicate control</a:t>
            </a:r>
          </a:p>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Batch history</a:t>
            </a:r>
          </a:p>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Verified recovery</a:t>
            </a:r>
          </a:p>
        </p:txBody>
      </p:sp>
    </p:spTree>
    <p:extLst>
      <p:ext uri="{BB962C8B-B14F-4D97-AF65-F5344CB8AC3E}">
        <p14:creationId xmlns:p14="http://schemas.microsoft.com/office/powerpoint/2010/main" val="17211063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8732A5E3-ABD0-4F89-AA6E-BDEFA9F4963D}"/>
              </a:ext>
            </a:extLst>
          </p:cNvPr>
          <p:cNvCxnSpPr>
            <a:stCxn xmlns:a="http://schemas.openxmlformats.org/drawingml/2006/main" id="5" idx="3"/>
            <a:endCxn xmlns:a="http://schemas.openxmlformats.org/drawingml/2006/main" id="11" idx="3"/>
          </p:cNvCxnSpPr>
          <p:nvPr/>
        </p:nvCxnSpPr>
        <p:spPr>
          <a:xfrm xmlns:a="http://schemas.openxmlformats.org/drawingml/2006/main">
            <a:off x="11582400" y="2619375"/>
            <a:ext cx="0" cy="247650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7" name="">
            <a:extLst xmlns:a="http://schemas.openxmlformats.org/drawingml/2006/main">
              <a:ext uri="{FF2B5EF4-FFF2-40B4-BE49-F238E27FC236}">
                <a16:creationId xmlns:a16="http://schemas.microsoft.com/office/drawing/2014/main" id="{3B6A1D4C-F192-449E-93AC-486DB3AC5BFF}"/>
              </a:ext>
            </a:extLst>
          </p:cNvPr>
          <p:cNvCxnSpPr>
            <a:stCxn xmlns:a="http://schemas.openxmlformats.org/drawingml/2006/main" id="4" idx="3"/>
            <a:endCxn xmlns:a="http://schemas.openxmlformats.org/drawingml/2006/main" id="5" idx="1"/>
          </p:cNvCxnSpPr>
          <p:nvPr/>
        </p:nvCxnSpPr>
        <p:spPr>
          <a:xfrm xmlns:a="http://schemas.openxmlformats.org/drawingml/2006/main">
            <a:off x="7620000" y="2619375"/>
            <a:ext cx="914400"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6" name="">
            <a:extLst xmlns:a="http://schemas.openxmlformats.org/drawingml/2006/main">
              <a:ext uri="{FF2B5EF4-FFF2-40B4-BE49-F238E27FC236}">
                <a16:creationId xmlns:a16="http://schemas.microsoft.com/office/drawing/2014/main" id="{66D79B77-7FD3-4F93-BFD6-26FB159D76DC}"/>
              </a:ext>
            </a:extLst>
          </p:cNvPr>
          <p:cNvCxnSpPr>
            <a:stCxn xmlns:a="http://schemas.openxmlformats.org/drawingml/2006/main" id="3" idx="3"/>
            <a:endCxn xmlns:a="http://schemas.openxmlformats.org/drawingml/2006/main" id="4" idx="1"/>
          </p:cNvCxnSpPr>
          <p:nvPr/>
        </p:nvCxnSpPr>
        <p:spPr>
          <a:xfrm xmlns:a="http://schemas.openxmlformats.org/drawingml/2006/main">
            <a:off x="3657600" y="2619375"/>
            <a:ext cx="914400" cy="0"/>
          </a:xfrm>
          <a:prstGeom xmlns:a="http://schemas.openxmlformats.org/drawingml/2006/main" prst="straightConnector1">
            <a:avLst/>
          </a:prstGeom>
          <a:ln xmlns:a="http://schemas.openxmlformats.org/drawingml/2006/main" w="28575">
            <a:solidFill>
              <a:srgbClr val="4959DD"/>
            </a:solidFill>
            <a:tailEnd type="arrow" w="med" len="med"/>
          </a:ln>
        </p:spPr>
      </p:cxnSp>
      <p:sp>
        <p:nvSpPr>
          <p:cNvPr id="14" name="">
            <a:extLst xmlns:a="http://schemas.openxmlformats.org/drawingml/2006/main">
              <a:ext uri="{FF2B5EF4-FFF2-40B4-BE49-F238E27FC236}">
                <a16:creationId xmlns:a16="http://schemas.microsoft.com/office/drawing/2014/main" id="{55A2CFA8-1831-4ABB-945C-9E94CF7218BF}"/>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45D0E7D3-03F8-46DB-AAD9-1DCB64C9B9FB}"/>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F22F2F4-D894-44D8-9EBD-AFE8EE8224E9}"/>
              </a:ext>
            </a:extLst>
          </p:cNvPr>
          <p:cNvSpPr>
            <a:spLocks xmlns:a="http://schemas.openxmlformats.org/drawingml/2006/main" noGrp="1"/>
          </p:cNvSpPr>
          <p:nvPr/>
        </p:nvSpPr>
        <p:spPr>
          <a:xfrm xmlns:a="http://schemas.openxmlformats.org/drawingml/2006/main">
            <a:off x="609600" y="2095500"/>
            <a:ext cx="3048000" cy="104775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React renderer</a:t>
            </a:r>
          </a:p>
        </p:txBody>
      </p:sp>
      <p:sp>
        <p:nvSpPr>
          <p:cNvPr id="4" name="">
            <a:extLst xmlns:a="http://schemas.openxmlformats.org/drawingml/2006/main">
              <a:ext uri="{FF2B5EF4-FFF2-40B4-BE49-F238E27FC236}">
                <a16:creationId xmlns:a16="http://schemas.microsoft.com/office/drawing/2014/main" id="{B0B12600-8FE5-4DAC-81C6-B62476119D8A}"/>
              </a:ext>
            </a:extLst>
          </p:cNvPr>
          <p:cNvSpPr>
            <a:spLocks xmlns:a="http://schemas.openxmlformats.org/drawingml/2006/main" noGrp="1"/>
          </p:cNvSpPr>
          <p:nvPr/>
        </p:nvSpPr>
        <p:spPr>
          <a:xfrm xmlns:a="http://schemas.openxmlformats.org/drawingml/2006/main">
            <a:off x="4572000" y="2095500"/>
            <a:ext cx="3048000" cy="1047750"/>
          </a:xfrm>
          <a:prstGeom xmlns:a="http://schemas.openxmlformats.org/drawingml/2006/main" prst="rect">
            <a:avLst/>
          </a:prstGeom>
          <a:solidFill xmlns:a="http://schemas.openxmlformats.org/drawingml/2006/main">
            <a:srgbClr val="4959DD"/>
          </a:solidFill>
          <a:ln xmlns:a="http://schemas.openxmlformats.org/drawingml/2006/main" w="9525">
            <a:solidFill>
              <a:srgbClr val="4959DD"/>
            </a:solidFill>
          </a:ln>
        </p:spPr>
        <p:txBody>
          <a:bodyPr xmlns:a="http://schemas.openxmlformats.org/drawingml/2006/main" lIns="114300" tIns="114300" rIns="114300" bIns="114300" anchor="ct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Preload bridge</a:t>
            </a:r>
          </a:p>
        </p:txBody>
      </p:sp>
      <p:sp>
        <p:nvSpPr>
          <p:cNvPr id="5" name="">
            <a:extLst xmlns:a="http://schemas.openxmlformats.org/drawingml/2006/main">
              <a:ext uri="{FF2B5EF4-FFF2-40B4-BE49-F238E27FC236}">
                <a16:creationId xmlns:a16="http://schemas.microsoft.com/office/drawing/2014/main" id="{A8CD7C2D-3EA5-4B1F-8F9E-8F96A9E517A4}"/>
              </a:ext>
            </a:extLst>
          </p:cNvPr>
          <p:cNvSpPr>
            <a:spLocks xmlns:a="http://schemas.openxmlformats.org/drawingml/2006/main" noGrp="1"/>
          </p:cNvSpPr>
          <p:nvPr/>
        </p:nvSpPr>
        <p:spPr>
          <a:xfrm xmlns:a="http://schemas.openxmlformats.org/drawingml/2006/main">
            <a:off x="8534400" y="2095500"/>
            <a:ext cx="3048000" cy="104775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Electron main</a:t>
            </a:r>
          </a:p>
        </p:txBody>
      </p:sp>
      <p:sp>
        <p:nvSpPr>
          <p:cNvPr id="8" name="">
            <a:extLst xmlns:a="http://schemas.openxmlformats.org/drawingml/2006/main">
              <a:ext uri="{FF2B5EF4-FFF2-40B4-BE49-F238E27FC236}">
                <a16:creationId xmlns:a16="http://schemas.microsoft.com/office/drawing/2014/main" id="{68DE83A7-56E4-428D-9DA3-368A7D8ABAF8}"/>
              </a:ext>
            </a:extLst>
          </p:cNvPr>
          <p:cNvSpPr>
            <a:spLocks xmlns:a="http://schemas.openxmlformats.org/drawingml/2006/main" noGrp="1"/>
          </p:cNvSpPr>
          <p:nvPr/>
        </p:nvSpPr>
        <p:spPr>
          <a:xfrm xmlns:a="http://schemas.openxmlformats.org/drawingml/2006/main">
            <a:off x="609600" y="33528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078"/>
                </a:solidFill>
                <a:latin typeface="Arial"/>
                <a:ea typeface="Arial"/>
                <a:cs typeface="Arial"/>
              </a:defRPr>
            </a:defPPr>
          </a:lstStyle>
          <a:p xmlns:a="http://schemas.openxmlformats.org/drawingml/2006/main">
            <a:pPr>
              <a:defRPr sz="1875" b="0">
                <a:solidFill>
                  <a:srgbClr val="536078"/>
                </a:solidFill>
                <a:latin typeface="Arial"/>
                <a:ea typeface="Arial"/>
                <a:cs typeface="Arial"/>
              </a:defRPr>
            </a:pPr>
            <a:r>
              <a:rPr sz="1875" b="0">
                <a:solidFill>
                  <a:srgbClr val="536078"/>
                </a:solidFill>
                <a:latin typeface="Arial"/>
                <a:ea typeface="Arial"/>
                <a:cs typeface="Arial"/>
              </a:rPr>
              <a:t>Screens and review</a:t>
            </a:r>
          </a:p>
        </p:txBody>
      </p:sp>
      <p:sp>
        <p:nvSpPr>
          <p:cNvPr id="9" name="">
            <a:extLst xmlns:a="http://schemas.openxmlformats.org/drawingml/2006/main">
              <a:ext uri="{FF2B5EF4-FFF2-40B4-BE49-F238E27FC236}">
                <a16:creationId xmlns:a16="http://schemas.microsoft.com/office/drawing/2014/main" id="{E2F2B013-4EB8-412D-A95D-3BD503C8626B}"/>
              </a:ext>
            </a:extLst>
          </p:cNvPr>
          <p:cNvSpPr>
            <a:spLocks xmlns:a="http://schemas.openxmlformats.org/drawingml/2006/main" noGrp="1"/>
          </p:cNvSpPr>
          <p:nvPr/>
        </p:nvSpPr>
        <p:spPr>
          <a:xfrm xmlns:a="http://schemas.openxmlformats.org/drawingml/2006/main">
            <a:off x="4572000" y="33528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078"/>
                </a:solidFill>
                <a:latin typeface="Arial"/>
                <a:ea typeface="Arial"/>
                <a:cs typeface="Arial"/>
              </a:defRPr>
            </a:defPPr>
          </a:lstStyle>
          <a:p xmlns:a="http://schemas.openxmlformats.org/drawingml/2006/main">
            <a:pPr>
              <a:defRPr sz="1875" b="0">
                <a:solidFill>
                  <a:srgbClr val="536078"/>
                </a:solidFill>
                <a:latin typeface="Arial"/>
                <a:ea typeface="Arial"/>
                <a:cs typeface="Arial"/>
              </a:defRPr>
            </a:pPr>
            <a:r>
              <a:rPr sz="1875" b="0">
                <a:solidFill>
                  <a:srgbClr val="536078"/>
                </a:solidFill>
                <a:latin typeface="Arial"/>
                <a:ea typeface="Arial"/>
                <a:cs typeface="Arial"/>
              </a:rPr>
              <a:t>Named IPC functions</a:t>
            </a:r>
          </a:p>
        </p:txBody>
      </p:sp>
      <p:sp>
        <p:nvSpPr>
          <p:cNvPr id="10" name="">
            <a:extLst xmlns:a="http://schemas.openxmlformats.org/drawingml/2006/main">
              <a:ext uri="{FF2B5EF4-FFF2-40B4-BE49-F238E27FC236}">
                <a16:creationId xmlns:a16="http://schemas.microsoft.com/office/drawing/2014/main" id="{A3D6DFD1-A560-4FEB-92B3-0777D0930BC1}"/>
              </a:ext>
            </a:extLst>
          </p:cNvPr>
          <p:cNvSpPr>
            <a:spLocks xmlns:a="http://schemas.openxmlformats.org/drawingml/2006/main" noGrp="1"/>
          </p:cNvSpPr>
          <p:nvPr/>
        </p:nvSpPr>
        <p:spPr>
          <a:xfrm xmlns:a="http://schemas.openxmlformats.org/drawingml/2006/main">
            <a:off x="8534400" y="33528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078"/>
                </a:solidFill>
                <a:latin typeface="Arial"/>
                <a:ea typeface="Arial"/>
                <a:cs typeface="Arial"/>
              </a:defRPr>
            </a:defPPr>
          </a:lstStyle>
          <a:p xmlns:a="http://schemas.openxmlformats.org/drawingml/2006/main">
            <a:pPr>
              <a:defRPr sz="1875" b="0">
                <a:solidFill>
                  <a:srgbClr val="536078"/>
                </a:solidFill>
                <a:latin typeface="Arial"/>
                <a:ea typeface="Arial"/>
                <a:cs typeface="Arial"/>
              </a:defRPr>
            </a:pPr>
            <a:r>
              <a:rPr sz="1875" b="0">
                <a:solidFill>
                  <a:srgbClr val="536078"/>
                </a:solidFill>
                <a:latin typeface="Arial"/>
                <a:ea typeface="Arial"/>
                <a:cs typeface="Arial"/>
              </a:rPr>
              <a:t>Validated operations</a:t>
            </a:r>
          </a:p>
        </p:txBody>
      </p:sp>
      <p:sp>
        <p:nvSpPr>
          <p:cNvPr id="11" name="">
            <a:extLst xmlns:a="http://schemas.openxmlformats.org/drawingml/2006/main">
              <a:ext uri="{FF2B5EF4-FFF2-40B4-BE49-F238E27FC236}">
                <a16:creationId xmlns:a16="http://schemas.microsoft.com/office/drawing/2014/main" id="{D51A0AC6-599D-4F6A-8247-8B91E1BDCE67}"/>
              </a:ext>
            </a:extLst>
          </p:cNvPr>
          <p:cNvSpPr>
            <a:spLocks xmlns:a="http://schemas.openxmlformats.org/drawingml/2006/main" noGrp="1"/>
          </p:cNvSpPr>
          <p:nvPr/>
        </p:nvSpPr>
        <p:spPr>
          <a:xfrm xmlns:a="http://schemas.openxmlformats.org/drawingml/2006/main">
            <a:off x="8534400" y="4667250"/>
            <a:ext cx="3048000" cy="85725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SQLite database</a:t>
            </a:r>
          </a:p>
        </p:txBody>
      </p:sp>
      <p:sp>
        <p:nvSpPr>
          <p:cNvPr id="13" name="">
            <a:extLst xmlns:a="http://schemas.openxmlformats.org/drawingml/2006/main">
              <a:ext uri="{FF2B5EF4-FFF2-40B4-BE49-F238E27FC236}">
                <a16:creationId xmlns:a16="http://schemas.microsoft.com/office/drawing/2014/main" id="{0D810CFB-35BE-4E86-9FD7-CEC30F2EE2E3}"/>
              </a:ext>
            </a:extLst>
          </p:cNvPr>
          <p:cNvSpPr>
            <a:spLocks xmlns:a="http://schemas.openxmlformats.org/drawingml/2006/main" noGrp="1"/>
          </p:cNvSpPr>
          <p:nvPr/>
        </p:nvSpPr>
        <p:spPr>
          <a:xfrm xmlns:a="http://schemas.openxmlformats.org/drawingml/2006/main">
            <a:off x="609600" y="4667250"/>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078"/>
                </a:solidFill>
                <a:latin typeface="Arial"/>
                <a:ea typeface="Arial"/>
                <a:cs typeface="Arial"/>
              </a:defRPr>
            </a:defPPr>
          </a:lstStyle>
          <a:p xmlns:a="http://schemas.openxmlformats.org/drawingml/2006/main">
            <a:pPr>
              <a:defRPr sz="1950" b="0">
                <a:solidFill>
                  <a:srgbClr val="536078"/>
                </a:solidFill>
                <a:latin typeface="Arial"/>
                <a:ea typeface="Arial"/>
                <a:cs typeface="Arial"/>
              </a:defRPr>
            </a:pPr>
            <a:r>
              <a:rPr sz="1950" b="0">
                <a:solidFill>
                  <a:srgbClr val="536078"/>
                </a:solidFill>
                <a:latin typeface="Arial"/>
                <a:ea typeface="Arial"/>
                <a:cs typeface="Arial"/>
              </a:rPr>
              <a:t>SheetJS parses local exports.</a:t>
            </a:r>
          </a:p>
          <a:p xmlns:a="http://schemas.openxmlformats.org/drawingml/2006/main">
            <a:pPr>
              <a:defRPr sz="1950" b="0">
                <a:solidFill>
                  <a:srgbClr val="536078"/>
                </a:solidFill>
                <a:latin typeface="Arial"/>
                <a:ea typeface="Arial"/>
                <a:cs typeface="Arial"/>
              </a:defRPr>
            </a:pPr>
            <a:r>
              <a:rPr sz="1950" b="0">
                <a:solidFill>
                  <a:srgbClr val="536078"/>
                </a:solidFill>
                <a:latin typeface="Arial"/>
                <a:ea typeface="Arial"/>
                <a:cs typeface="Arial"/>
              </a:rPr>
              <a:t>Chromium renders A4 output.</a:t>
            </a:r>
          </a:p>
        </p:txBody>
      </p:sp>
    </p:spTree>
    <p:extLst>
      <p:ext uri="{BB962C8B-B14F-4D97-AF65-F5344CB8AC3E}">
        <p14:creationId xmlns:p14="http://schemas.microsoft.com/office/powerpoint/2010/main" val="4071451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53E96B74-2686-499E-876B-921A5163C5EF}"/>
              </a:ext>
            </a:extLst>
          </p:cNvPr>
          <p:cNvCxnSpPr>
            <a:stCxn xmlns:a="http://schemas.openxmlformats.org/drawingml/2006/main" id="9" idx="1"/>
            <a:endCxn xmlns:a="http://schemas.openxmlformats.org/drawingml/2006/main" id="10" idx="3"/>
          </p:cNvCxnSpPr>
          <p:nvPr/>
        </p:nvCxnSpPr>
        <p:spPr>
          <a:xfrm xmlns:a="http://schemas.openxmlformats.org/drawingml/2006/main" flipH="1">
            <a:off x="3086100" y="3619500"/>
            <a:ext cx="1143000"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2" name="">
            <a:extLst xmlns:a="http://schemas.openxmlformats.org/drawingml/2006/main">
              <a:ext uri="{FF2B5EF4-FFF2-40B4-BE49-F238E27FC236}">
                <a16:creationId xmlns:a16="http://schemas.microsoft.com/office/drawing/2014/main" id="{9EA5E07E-65E3-4F66-8EBD-55CB1B51085E}"/>
              </a:ext>
            </a:extLst>
          </p:cNvPr>
          <p:cNvCxnSpPr>
            <a:stCxn xmlns:a="http://schemas.openxmlformats.org/drawingml/2006/main" id="8" idx="1"/>
            <a:endCxn xmlns:a="http://schemas.openxmlformats.org/drawingml/2006/main" id="9" idx="3"/>
          </p:cNvCxnSpPr>
          <p:nvPr/>
        </p:nvCxnSpPr>
        <p:spPr>
          <a:xfrm xmlns:a="http://schemas.openxmlformats.org/drawingml/2006/main" flipH="1">
            <a:off x="6705600" y="3619500"/>
            <a:ext cx="1143000"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11" name="">
            <a:extLst xmlns:a="http://schemas.openxmlformats.org/drawingml/2006/main">
              <a:ext uri="{FF2B5EF4-FFF2-40B4-BE49-F238E27FC236}">
                <a16:creationId xmlns:a16="http://schemas.microsoft.com/office/drawing/2014/main" id="{2FBC3F3B-E4F7-4794-B02B-2DF906465F71}"/>
              </a:ext>
            </a:extLst>
          </p:cNvPr>
          <p:cNvCxnSpPr>
            <a:stCxn xmlns:a="http://schemas.openxmlformats.org/drawingml/2006/main" id="5" idx="2"/>
            <a:endCxn xmlns:a="http://schemas.openxmlformats.org/drawingml/2006/main" id="8" idx="0"/>
          </p:cNvCxnSpPr>
          <p:nvPr/>
        </p:nvCxnSpPr>
        <p:spPr>
          <a:xfrm xmlns:a="http://schemas.openxmlformats.org/drawingml/2006/main">
            <a:off x="9372600" y="2333625"/>
            <a:ext cx="0" cy="904875"/>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7" name="">
            <a:extLst xmlns:a="http://schemas.openxmlformats.org/drawingml/2006/main">
              <a:ext uri="{FF2B5EF4-FFF2-40B4-BE49-F238E27FC236}">
                <a16:creationId xmlns:a16="http://schemas.microsoft.com/office/drawing/2014/main" id="{5DA35A30-B1BA-4798-A3EA-34D503D5C17E}"/>
              </a:ext>
            </a:extLst>
          </p:cNvPr>
          <p:cNvCxnSpPr>
            <a:stCxn xmlns:a="http://schemas.openxmlformats.org/drawingml/2006/main" id="4" idx="3"/>
            <a:endCxn xmlns:a="http://schemas.openxmlformats.org/drawingml/2006/main" id="5" idx="1"/>
          </p:cNvCxnSpPr>
          <p:nvPr/>
        </p:nvCxnSpPr>
        <p:spPr>
          <a:xfrm xmlns:a="http://schemas.openxmlformats.org/drawingml/2006/main">
            <a:off x="6705600" y="1952625"/>
            <a:ext cx="1143000" cy="0"/>
          </a:xfrm>
          <a:prstGeom xmlns:a="http://schemas.openxmlformats.org/drawingml/2006/main" prst="straightConnector1">
            <a:avLst/>
          </a:prstGeom>
          <a:ln xmlns:a="http://schemas.openxmlformats.org/drawingml/2006/main" w="28575">
            <a:solidFill>
              <a:srgbClr val="4959DD"/>
            </a:solidFill>
            <a:tailEnd type="arrow" w="med" len="med"/>
          </a:ln>
        </p:spPr>
      </p:cxnSp>
      <p:cxnSp>
        <p:nvCxnSpPr>
          <p:cNvPr id="6" name="">
            <a:extLst xmlns:a="http://schemas.openxmlformats.org/drawingml/2006/main">
              <a:ext uri="{FF2B5EF4-FFF2-40B4-BE49-F238E27FC236}">
                <a16:creationId xmlns:a16="http://schemas.microsoft.com/office/drawing/2014/main" id="{BF0F028C-8131-42FB-993B-51BE91D4DECD}"/>
              </a:ext>
            </a:extLst>
          </p:cNvPr>
          <p:cNvCxnSpPr>
            <a:stCxn xmlns:a="http://schemas.openxmlformats.org/drawingml/2006/main" id="3" idx="3"/>
            <a:endCxn xmlns:a="http://schemas.openxmlformats.org/drawingml/2006/main" id="4" idx="1"/>
          </p:cNvCxnSpPr>
          <p:nvPr/>
        </p:nvCxnSpPr>
        <p:spPr>
          <a:xfrm xmlns:a="http://schemas.openxmlformats.org/drawingml/2006/main">
            <a:off x="3086100" y="1952625"/>
            <a:ext cx="1143000" cy="0"/>
          </a:xfrm>
          <a:prstGeom xmlns:a="http://schemas.openxmlformats.org/drawingml/2006/main" prst="straightConnector1">
            <a:avLst/>
          </a:prstGeom>
          <a:ln xmlns:a="http://schemas.openxmlformats.org/drawingml/2006/main" w="28575">
            <a:solidFill>
              <a:srgbClr val="4959DD"/>
            </a:solidFill>
            <a:tailEnd type="arrow" w="med" len="med"/>
          </a:ln>
        </p:spPr>
      </p:cxnSp>
      <p:sp>
        <p:nvSpPr>
          <p:cNvPr id="18" name="">
            <a:extLst xmlns:a="http://schemas.openxmlformats.org/drawingml/2006/main">
              <a:ext uri="{FF2B5EF4-FFF2-40B4-BE49-F238E27FC236}">
                <a16:creationId xmlns:a16="http://schemas.microsoft.com/office/drawing/2014/main" id="{E8DD1EAB-185C-40E9-93F7-29F3C41801C7}"/>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Source records remain traceable</a:t>
            </a:r>
          </a:p>
        </p:txBody>
      </p:sp>
      <p:sp>
        <p:nvSpPr>
          <p:cNvPr id="2" name="">
            <a:extLst xmlns:a="http://schemas.openxmlformats.org/drawingml/2006/main">
              <a:ext uri="{FF2B5EF4-FFF2-40B4-BE49-F238E27FC236}">
                <a16:creationId xmlns:a16="http://schemas.microsoft.com/office/drawing/2014/main" id="{BF859DD4-873F-41A2-BF77-22EED5C78E2A}"/>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FA3F0EA-6218-45D4-A605-FD3D4C246F36}"/>
              </a:ext>
            </a:extLst>
          </p:cNvPr>
          <p:cNvSpPr>
            <a:spLocks xmlns:a="http://schemas.openxmlformats.org/drawingml/2006/main" noGrp="1"/>
          </p:cNvSpPr>
          <p:nvPr/>
        </p:nvSpPr>
        <p:spPr>
          <a:xfrm xmlns:a="http://schemas.openxmlformats.org/drawingml/2006/main">
            <a:off x="609600" y="1571625"/>
            <a:ext cx="2476500" cy="7620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Seller account</a:t>
            </a:r>
          </a:p>
        </p:txBody>
      </p:sp>
      <p:sp>
        <p:nvSpPr>
          <p:cNvPr id="4" name="">
            <a:extLst xmlns:a="http://schemas.openxmlformats.org/drawingml/2006/main">
              <a:ext uri="{FF2B5EF4-FFF2-40B4-BE49-F238E27FC236}">
                <a16:creationId xmlns:a16="http://schemas.microsoft.com/office/drawing/2014/main" id="{0A8F90D6-FC0A-4CF5-A6E4-2C32F3334CB3}"/>
              </a:ext>
            </a:extLst>
          </p:cNvPr>
          <p:cNvSpPr>
            <a:spLocks xmlns:a="http://schemas.openxmlformats.org/drawingml/2006/main" noGrp="1"/>
          </p:cNvSpPr>
          <p:nvPr/>
        </p:nvSpPr>
        <p:spPr>
          <a:xfrm xmlns:a="http://schemas.openxmlformats.org/drawingml/2006/main">
            <a:off x="4229100" y="1571625"/>
            <a:ext cx="2476500" cy="7620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Import file</a:t>
            </a:r>
          </a:p>
        </p:txBody>
      </p:sp>
      <p:sp>
        <p:nvSpPr>
          <p:cNvPr id="5" name="">
            <a:extLst xmlns:a="http://schemas.openxmlformats.org/drawingml/2006/main">
              <a:ext uri="{FF2B5EF4-FFF2-40B4-BE49-F238E27FC236}">
                <a16:creationId xmlns:a16="http://schemas.microsoft.com/office/drawing/2014/main" id="{B7723F62-A979-4034-B7EA-672BB614E8E9}"/>
              </a:ext>
            </a:extLst>
          </p:cNvPr>
          <p:cNvSpPr>
            <a:spLocks xmlns:a="http://schemas.openxmlformats.org/drawingml/2006/main" noGrp="1"/>
          </p:cNvSpPr>
          <p:nvPr/>
        </p:nvSpPr>
        <p:spPr>
          <a:xfrm xmlns:a="http://schemas.openxmlformats.org/drawingml/2006/main">
            <a:off x="7848600" y="1571625"/>
            <a:ext cx="3048000" cy="7620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Imported order</a:t>
            </a:r>
          </a:p>
        </p:txBody>
      </p:sp>
      <p:sp>
        <p:nvSpPr>
          <p:cNvPr id="8" name="">
            <a:extLst xmlns:a="http://schemas.openxmlformats.org/drawingml/2006/main">
              <a:ext uri="{FF2B5EF4-FFF2-40B4-BE49-F238E27FC236}">
                <a16:creationId xmlns:a16="http://schemas.microsoft.com/office/drawing/2014/main" id="{A25A003F-3438-4C8D-B621-1CEC09C57CBB}"/>
              </a:ext>
            </a:extLst>
          </p:cNvPr>
          <p:cNvSpPr>
            <a:spLocks xmlns:a="http://schemas.openxmlformats.org/drawingml/2006/main" noGrp="1"/>
          </p:cNvSpPr>
          <p:nvPr/>
        </p:nvSpPr>
        <p:spPr>
          <a:xfrm xmlns:a="http://schemas.openxmlformats.org/drawingml/2006/main">
            <a:off x="7848600" y="3238500"/>
            <a:ext cx="3048000" cy="762000"/>
          </a:xfrm>
          <a:prstGeom xmlns:a="http://schemas.openxmlformats.org/drawingml/2006/main" prst="rect">
            <a:avLst/>
          </a:prstGeom>
          <a:solidFill xmlns:a="http://schemas.openxmlformats.org/drawingml/2006/main">
            <a:srgbClr val="4959DD"/>
          </a:solidFill>
          <a:ln xmlns:a="http://schemas.openxmlformats.org/drawingml/2006/main" w="9525">
            <a:solidFill>
              <a:srgbClr val="4959DD"/>
            </a:solidFill>
          </a:ln>
        </p:spPr>
        <p:txBody>
          <a:bodyPr xmlns:a="http://schemas.openxmlformats.org/drawingml/2006/main" lIns="114300" tIns="114300" rIns="114300" bIns="114300" anchor="ct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Source link</a:t>
            </a:r>
          </a:p>
        </p:txBody>
      </p:sp>
      <p:sp>
        <p:nvSpPr>
          <p:cNvPr id="9" name="">
            <a:extLst xmlns:a="http://schemas.openxmlformats.org/drawingml/2006/main">
              <a:ext uri="{FF2B5EF4-FFF2-40B4-BE49-F238E27FC236}">
                <a16:creationId xmlns:a16="http://schemas.microsoft.com/office/drawing/2014/main" id="{9401901E-72C8-4BD3-8EF7-32E0F97F7240}"/>
              </a:ext>
            </a:extLst>
          </p:cNvPr>
          <p:cNvSpPr>
            <a:spLocks xmlns:a="http://schemas.openxmlformats.org/drawingml/2006/main" noGrp="1"/>
          </p:cNvSpPr>
          <p:nvPr/>
        </p:nvSpPr>
        <p:spPr>
          <a:xfrm xmlns:a="http://schemas.openxmlformats.org/drawingml/2006/main">
            <a:off x="4229100" y="3238500"/>
            <a:ext cx="2476500" cy="7620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Production item</a:t>
            </a:r>
          </a:p>
        </p:txBody>
      </p:sp>
      <p:sp>
        <p:nvSpPr>
          <p:cNvPr id="10" name="">
            <a:extLst xmlns:a="http://schemas.openxmlformats.org/drawingml/2006/main">
              <a:ext uri="{FF2B5EF4-FFF2-40B4-BE49-F238E27FC236}">
                <a16:creationId xmlns:a16="http://schemas.microsoft.com/office/drawing/2014/main" id="{623FBEC4-E71F-45EB-AACC-FF3260164C6B}"/>
              </a:ext>
            </a:extLst>
          </p:cNvPr>
          <p:cNvSpPr>
            <a:spLocks xmlns:a="http://schemas.openxmlformats.org/drawingml/2006/main" noGrp="1"/>
          </p:cNvSpPr>
          <p:nvPr/>
        </p:nvSpPr>
        <p:spPr>
          <a:xfrm xmlns:a="http://schemas.openxmlformats.org/drawingml/2006/main">
            <a:off x="609600" y="3238500"/>
            <a:ext cx="2476500" cy="762000"/>
          </a:xfrm>
          <a:prstGeom xmlns:a="http://schemas.openxmlformats.org/drawingml/2006/main" prst="rect">
            <a:avLst/>
          </a:prstGeom>
          <a:solidFill xmlns:a="http://schemas.openxmlformats.org/drawingml/2006/main">
            <a:srgbClr val="F4F6FB"/>
          </a:solidFill>
          <a:ln xmlns:a="http://schemas.openxmlformats.org/drawingml/2006/main" w="9525">
            <a:solidFill>
              <a:srgbClr val="CCD3E0"/>
            </a:solidFill>
          </a:ln>
        </p:spPr>
        <p:txBody>
          <a:bodyPr xmlns:a="http://schemas.openxmlformats.org/drawingml/2006/main" lIns="114300" tIns="114300" rIns="114300" bIns="114300" anchor="ctr"/>
          <a:lstStyle xmlns:a="http://schemas.openxmlformats.org/drawingml/2006/main">
            <a:defPPr algn="ctr">
              <a:defRPr sz="1875" b="1">
                <a:solidFill>
                  <a:srgbClr val="182034"/>
                </a:solidFill>
                <a:latin typeface="Arial"/>
                <a:ea typeface="Arial"/>
                <a:cs typeface="Arial"/>
              </a:defRPr>
            </a:defPPr>
          </a:lstStyle>
          <a:p xmlns:a="http://schemas.openxmlformats.org/drawingml/2006/main">
            <a:pPr algn="ctr">
              <a:defRPr sz="1875" b="1">
                <a:solidFill>
                  <a:srgbClr val="182034"/>
                </a:solidFill>
                <a:latin typeface="Arial"/>
                <a:ea typeface="Arial"/>
                <a:cs typeface="Arial"/>
              </a:defRPr>
            </a:pPr>
            <a:r>
              <a:rPr sz="1875" b="1">
                <a:solidFill>
                  <a:srgbClr val="182034"/>
                </a:solidFill>
                <a:latin typeface="Arial"/>
                <a:ea typeface="Arial"/>
                <a:cs typeface="Arial"/>
              </a:rPr>
              <a:t>Batch</a:t>
            </a:r>
          </a:p>
        </p:txBody>
      </p:sp>
      <p:sp>
        <p:nvSpPr>
          <p:cNvPr id="14" name="">
            <a:extLst xmlns:a="http://schemas.openxmlformats.org/drawingml/2006/main">
              <a:ext uri="{FF2B5EF4-FFF2-40B4-BE49-F238E27FC236}">
                <a16:creationId xmlns:a16="http://schemas.microsoft.com/office/drawing/2014/main" id="{4119FF3E-DA91-4372-A41D-31117DFFCDC6}"/>
              </a:ext>
            </a:extLst>
          </p:cNvPr>
          <p:cNvSpPr>
            <a:spLocks xmlns:a="http://schemas.openxmlformats.org/drawingml/2006/main" noGrp="1"/>
          </p:cNvSpPr>
          <p:nvPr/>
        </p:nvSpPr>
        <p:spPr>
          <a:xfrm xmlns:a="http://schemas.openxmlformats.org/drawingml/2006/main">
            <a:off x="609600" y="48577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182034"/>
                </a:solidFill>
                <a:latin typeface="Arial"/>
                <a:ea typeface="Arial"/>
                <a:cs typeface="Arial"/>
              </a:defRPr>
            </a:defPPr>
          </a:lstStyle>
          <a:p xmlns:a="http://schemas.openxmlformats.org/drawingml/2006/main">
            <a:pPr>
              <a:defRPr sz="2400" b="1">
                <a:solidFill>
                  <a:srgbClr val="182034"/>
                </a:solidFill>
                <a:latin typeface="Arial"/>
                <a:ea typeface="Arial"/>
                <a:cs typeface="Arial"/>
              </a:defRPr>
            </a:pPr>
            <a:r>
              <a:rPr sz="2400" b="1">
                <a:solidFill>
                  <a:srgbClr val="182034"/>
                </a:solidFill>
                <a:latin typeface="Arial"/>
                <a:ea typeface="Arial"/>
                <a:cs typeface="Arial"/>
              </a:rPr>
              <a:t>28 original order lines</a:t>
            </a:r>
          </a:p>
        </p:txBody>
      </p:sp>
      <p:sp>
        <p:nvSpPr>
          <p:cNvPr id="15" name="">
            <a:extLst xmlns:a="http://schemas.openxmlformats.org/drawingml/2006/main">
              <a:ext uri="{FF2B5EF4-FFF2-40B4-BE49-F238E27FC236}">
                <a16:creationId xmlns:a16="http://schemas.microsoft.com/office/drawing/2014/main" id="{2DFAB845-D6F5-41D3-8BE6-8D9FDA876ECD}"/>
              </a:ext>
            </a:extLst>
          </p:cNvPr>
          <p:cNvSpPr>
            <a:spLocks xmlns:a="http://schemas.openxmlformats.org/drawingml/2006/main" noGrp="1"/>
          </p:cNvSpPr>
          <p:nvPr/>
        </p:nvSpPr>
        <p:spPr>
          <a:xfrm xmlns:a="http://schemas.openxmlformats.org/drawingml/2006/main">
            <a:off x="609600" y="546735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078"/>
                </a:solidFill>
                <a:latin typeface="Arial"/>
                <a:ea typeface="Arial"/>
                <a:cs typeface="Arial"/>
              </a:defRPr>
            </a:defPPr>
          </a:lstStyle>
          <a:p xmlns:a="http://schemas.openxmlformats.org/drawingml/2006/main">
            <a:pPr>
              <a:defRPr sz="1950" b="0">
                <a:solidFill>
                  <a:srgbClr val="536078"/>
                </a:solidFill>
                <a:latin typeface="Arial"/>
                <a:ea typeface="Arial"/>
                <a:cs typeface="Arial"/>
              </a:defRPr>
            </a:pPr>
            <a:r>
              <a:rPr sz="1950" b="0">
                <a:solidFill>
                  <a:srgbClr val="536078"/>
                </a:solidFill>
                <a:latin typeface="Arial"/>
                <a:ea typeface="Arial"/>
                <a:cs typeface="Arial"/>
              </a:rPr>
              <a:t>12 repeated rows excluded</a:t>
            </a:r>
          </a:p>
        </p:txBody>
      </p:sp>
      <p:sp>
        <p:nvSpPr>
          <p:cNvPr id="16" name="">
            <a:extLst xmlns:a="http://schemas.openxmlformats.org/drawingml/2006/main">
              <a:ext uri="{FF2B5EF4-FFF2-40B4-BE49-F238E27FC236}">
                <a16:creationId xmlns:a16="http://schemas.microsoft.com/office/drawing/2014/main" id="{EDA8302B-F5C1-4927-BAF2-F16D385F1F39}"/>
              </a:ext>
            </a:extLst>
          </p:cNvPr>
          <p:cNvSpPr>
            <a:spLocks xmlns:a="http://schemas.openxmlformats.org/drawingml/2006/main" noGrp="1"/>
          </p:cNvSpPr>
          <p:nvPr/>
        </p:nvSpPr>
        <p:spPr>
          <a:xfrm xmlns:a="http://schemas.openxmlformats.org/drawingml/2006/main">
            <a:off x="7334250" y="4524375"/>
            <a:ext cx="2095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600" b="1">
                <a:solidFill>
                  <a:srgbClr val="4959DD"/>
                </a:solidFill>
                <a:latin typeface="Arial"/>
                <a:ea typeface="Arial"/>
                <a:cs typeface="Arial"/>
              </a:defRPr>
            </a:defPPr>
          </a:lstStyle>
          <a:p xmlns:a="http://schemas.openxmlformats.org/drawingml/2006/main">
            <a:pPr>
              <a:defRPr sz="6600" b="1">
                <a:solidFill>
                  <a:srgbClr val="4959DD"/>
                </a:solidFill>
                <a:latin typeface="Arial"/>
                <a:ea typeface="Arial"/>
                <a:cs typeface="Arial"/>
              </a:defRPr>
            </a:pPr>
            <a:r>
              <a:rPr sz="6600" b="1">
                <a:solidFill>
                  <a:srgbClr val="4959DD"/>
                </a:solidFill>
                <a:latin typeface="Arial"/>
                <a:ea typeface="Arial"/>
                <a:cs typeface="Arial"/>
              </a:rPr>
              <a:t>61</a:t>
            </a:r>
          </a:p>
        </p:txBody>
      </p:sp>
      <p:sp>
        <p:nvSpPr>
          <p:cNvPr id="17" name="">
            <a:extLst xmlns:a="http://schemas.openxmlformats.org/drawingml/2006/main">
              <a:ext uri="{FF2B5EF4-FFF2-40B4-BE49-F238E27FC236}">
                <a16:creationId xmlns:a16="http://schemas.microsoft.com/office/drawing/2014/main" id="{7E339A6D-D1E3-467B-BA5C-284901B3C77E}"/>
              </a:ext>
            </a:extLst>
          </p:cNvPr>
          <p:cNvSpPr>
            <a:spLocks xmlns:a="http://schemas.openxmlformats.org/drawingml/2006/main" noGrp="1"/>
          </p:cNvSpPr>
          <p:nvPr/>
        </p:nvSpPr>
        <p:spPr>
          <a:xfrm xmlns:a="http://schemas.openxmlformats.org/drawingml/2006/main">
            <a:off x="7239000" y="56197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078"/>
                </a:solidFill>
                <a:latin typeface="Arial"/>
                <a:ea typeface="Arial"/>
                <a:cs typeface="Arial"/>
              </a:defRPr>
            </a:defPPr>
          </a:lstStyle>
          <a:p xmlns:a="http://schemas.openxmlformats.org/drawingml/2006/main">
            <a:pPr>
              <a:defRPr sz="1950" b="0">
                <a:solidFill>
                  <a:srgbClr val="536078"/>
                </a:solidFill>
                <a:latin typeface="Arial"/>
                <a:ea typeface="Arial"/>
                <a:cs typeface="Arial"/>
              </a:defRPr>
            </a:pPr>
            <a:r>
              <a:rPr sz="1950" b="0">
                <a:solidFill>
                  <a:srgbClr val="536078"/>
                </a:solidFill>
                <a:latin typeface="Arial"/>
                <a:ea typeface="Arial"/>
                <a:cs typeface="Arial"/>
              </a:rPr>
              <a:t>reconciled production units</a:t>
            </a:r>
          </a:p>
        </p:txBody>
      </p:sp>
    </p:spTree>
    <p:extLst>
      <p:ext uri="{BB962C8B-B14F-4D97-AF65-F5344CB8AC3E}">
        <p14:creationId xmlns:p14="http://schemas.microsoft.com/office/powerpoint/2010/main" val="1451768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52B7DA-64F3-44CA-872D-7376913306D6}"/>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The working application</a:t>
            </a:r>
          </a:p>
        </p:txBody>
      </p:sp>
      <p:sp>
        <p:nvSpPr>
          <p:cNvPr id="2" name="">
            <a:extLst xmlns:a="http://schemas.openxmlformats.org/drawingml/2006/main">
              <a:ext uri="{FF2B5EF4-FFF2-40B4-BE49-F238E27FC236}">
                <a16:creationId xmlns:a16="http://schemas.microsoft.com/office/drawing/2014/main" id="{2B459AE8-74EE-44D2-A84F-11C0E9615ED5}"/>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D09F34E9-DAF6-4C1B-8200-AFAA439A3197}"/>
              </a:ext>
            </a:extLst>
          </p:cNvPr>
          <p:cNvPicPr>
            <a:picLocks xmlns:a="http://schemas.openxmlformats.org/drawingml/2006/main" noChangeAspect="1"/>
          </p:cNvPicPr>
          <p:nvPr/>
        </p:nvPicPr>
        <p:blipFill>
          <a:blip xmlns:r="http://schemas.openxmlformats.org/officeDocument/2006/relationships" xmlns:a="http://schemas.openxmlformats.org/drawingml/2006/main" r:embed="R951a98bd8f7541ad"/>
          <a:stretch xmlns:a="http://schemas.openxmlformats.org/drawingml/2006/main"/>
        </p:blipFill>
        <p:spPr>
          <a:xfrm xmlns:a="http://schemas.openxmlformats.org/drawingml/2006/main">
            <a:off x="1117101" y="1381125"/>
            <a:ext cx="7509873"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B9F9629-11CF-4E35-9856-FA7CBA1C74E7}"/>
              </a:ext>
            </a:extLst>
          </p:cNvPr>
          <p:cNvSpPr>
            <a:spLocks xmlns:a="http://schemas.openxmlformats.org/drawingml/2006/main" noGrp="1"/>
          </p:cNvSpPr>
          <p:nvPr/>
        </p:nvSpPr>
        <p:spPr>
          <a:xfrm xmlns:a="http://schemas.openxmlformats.org/drawingml/2006/main">
            <a:off x="9429750" y="198120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034"/>
                </a:solidFill>
                <a:latin typeface="Arial"/>
                <a:ea typeface="Arial"/>
                <a:cs typeface="Arial"/>
              </a:defRPr>
            </a:defPPr>
          </a:lstStyle>
          <a:p xmlns:a="http://schemas.openxmlformats.org/drawingml/2006/main">
            <a:pPr>
              <a:defRPr sz="2250" b="1">
                <a:solidFill>
                  <a:srgbClr val="182034"/>
                </a:solidFill>
                <a:latin typeface="Arial"/>
                <a:ea typeface="Arial"/>
                <a:cs typeface="Arial"/>
              </a:defRPr>
            </a:pPr>
            <a:r>
              <a:rPr sz="2250" b="1">
                <a:solidFill>
                  <a:srgbClr val="182034"/>
                </a:solidFill>
                <a:latin typeface="Arial"/>
                <a:ea typeface="Arial"/>
                <a:cs typeface="Arial"/>
              </a:rPr>
              <a:t>40 imported rows</a:t>
            </a:r>
          </a:p>
        </p:txBody>
      </p:sp>
      <p:sp>
        <p:nvSpPr>
          <p:cNvPr id="5" name="">
            <a:extLst xmlns:a="http://schemas.openxmlformats.org/drawingml/2006/main">
              <a:ext uri="{FF2B5EF4-FFF2-40B4-BE49-F238E27FC236}">
                <a16:creationId xmlns:a16="http://schemas.microsoft.com/office/drawing/2014/main" id="{66F0CE23-8380-4276-A5F6-C8B5A21ECEA6}"/>
              </a:ext>
            </a:extLst>
          </p:cNvPr>
          <p:cNvSpPr>
            <a:spLocks xmlns:a="http://schemas.openxmlformats.org/drawingml/2006/main" noGrp="1"/>
          </p:cNvSpPr>
          <p:nvPr/>
        </p:nvSpPr>
        <p:spPr>
          <a:xfrm xmlns:a="http://schemas.openxmlformats.org/drawingml/2006/main">
            <a:off x="9429750" y="3133725"/>
            <a:ext cx="219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078"/>
                </a:solidFill>
                <a:latin typeface="Arial"/>
                <a:ea typeface="Arial"/>
                <a:cs typeface="Arial"/>
              </a:defRPr>
            </a:defPPr>
          </a:lstStyle>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12 duplicates</a:t>
            </a:r>
          </a:p>
          <a:p xmlns:a="http://schemas.openxmlformats.org/drawingml/2006/main">
            <a:pPr>
              <a:defRPr sz="2100" b="0">
                <a:solidFill>
                  <a:srgbClr val="536078"/>
                </a:solidFill>
                <a:latin typeface="Arial"/>
                <a:ea typeface="Arial"/>
                <a:cs typeface="Arial"/>
              </a:defRPr>
            </a:pPr>
            <a:r>
              <a:rPr sz="2100" b="0">
                <a:solidFill>
                  <a:srgbClr val="536078"/>
                </a:solidFill>
                <a:latin typeface="Arial"/>
                <a:ea typeface="Arial"/>
                <a:cs typeface="Arial"/>
              </a:rPr>
              <a:t>excluded</a:t>
            </a:r>
          </a:p>
        </p:txBody>
      </p:sp>
      <p:sp>
        <p:nvSpPr>
          <p:cNvPr id="6" name="">
            <a:extLst xmlns:a="http://schemas.openxmlformats.org/drawingml/2006/main">
              <a:ext uri="{FF2B5EF4-FFF2-40B4-BE49-F238E27FC236}">
                <a16:creationId xmlns:a16="http://schemas.microsoft.com/office/drawing/2014/main" id="{98E2614B-A805-4583-ADED-55A0442415C3}"/>
              </a:ext>
            </a:extLst>
          </p:cNvPr>
          <p:cNvSpPr>
            <a:spLocks xmlns:a="http://schemas.openxmlformats.org/drawingml/2006/main" noGrp="1"/>
          </p:cNvSpPr>
          <p:nvPr/>
        </p:nvSpPr>
        <p:spPr>
          <a:xfrm xmlns:a="http://schemas.openxmlformats.org/drawingml/2006/main">
            <a:off x="9429750" y="4524375"/>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4959DD"/>
                </a:solidFill>
                <a:latin typeface="Arial"/>
                <a:ea typeface="Arial"/>
                <a:cs typeface="Arial"/>
              </a:defRPr>
            </a:defPPr>
          </a:lstStyle>
          <a:p xmlns:a="http://schemas.openxmlformats.org/drawingml/2006/main">
            <a:pPr>
              <a:defRPr sz="2550" b="1">
                <a:solidFill>
                  <a:srgbClr val="4959DD"/>
                </a:solidFill>
                <a:latin typeface="Arial"/>
                <a:ea typeface="Arial"/>
                <a:cs typeface="Arial"/>
              </a:defRPr>
            </a:pPr>
            <a:r>
              <a:rPr sz="2550" b="1">
                <a:solidFill>
                  <a:srgbClr val="4959DD"/>
                </a:solidFill>
                <a:latin typeface="Arial"/>
                <a:ea typeface="Arial"/>
                <a:cs typeface="Arial"/>
              </a:rPr>
              <a:t>61 units</a:t>
            </a:r>
          </a:p>
          <a:p xmlns:a="http://schemas.openxmlformats.org/drawingml/2006/main">
            <a:pPr>
              <a:defRPr sz="2550" b="1">
                <a:solidFill>
                  <a:srgbClr val="4959DD"/>
                </a:solidFill>
                <a:latin typeface="Arial"/>
                <a:ea typeface="Arial"/>
                <a:cs typeface="Arial"/>
              </a:defRPr>
            </a:pPr>
            <a:r>
              <a:rPr sz="2550" b="1">
                <a:solidFill>
                  <a:srgbClr val="4959DD"/>
                </a:solidFill>
                <a:latin typeface="Arial"/>
                <a:ea typeface="Arial"/>
                <a:cs typeface="Arial"/>
              </a:rPr>
              <a:t>ready</a:t>
            </a:r>
          </a:p>
        </p:txBody>
      </p:sp>
    </p:spTree>
    <p:extLst>
      <p:ext uri="{BB962C8B-B14F-4D97-AF65-F5344CB8AC3E}">
        <p14:creationId xmlns:p14="http://schemas.microsoft.com/office/powerpoint/2010/main" val="12554254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B107FC-ADD7-4647-9D1B-FD6EDC4CACEE}"/>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Testing, reliability and security</a:t>
            </a:r>
          </a:p>
        </p:txBody>
      </p:sp>
      <p:sp>
        <p:nvSpPr>
          <p:cNvPr id="2" name="">
            <a:extLst xmlns:a="http://schemas.openxmlformats.org/drawingml/2006/main">
              <a:ext uri="{FF2B5EF4-FFF2-40B4-BE49-F238E27FC236}">
                <a16:creationId xmlns:a16="http://schemas.microsoft.com/office/drawing/2014/main" id="{E103847F-6D4D-4513-BE48-8E4C441E29DA}"/>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8091C07-E26F-4D34-87C3-65190A308836}"/>
              </a:ext>
            </a:extLst>
          </p:cNvPr>
          <p:cNvSpPr>
            <a:spLocks xmlns:a="http://schemas.openxmlformats.org/drawingml/2006/main" noGrp="1"/>
          </p:cNvSpPr>
          <p:nvPr/>
        </p:nvSpPr>
        <p:spPr>
          <a:xfrm xmlns:a="http://schemas.openxmlformats.org/drawingml/2006/main">
            <a:off x="609600" y="1666875"/>
            <a:ext cx="257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050" b="1">
                <a:solidFill>
                  <a:srgbClr val="4959DD"/>
                </a:solidFill>
                <a:latin typeface="Arial"/>
                <a:ea typeface="Arial"/>
                <a:cs typeface="Arial"/>
              </a:defRPr>
            </a:defPPr>
          </a:lstStyle>
          <a:p xmlns:a="http://schemas.openxmlformats.org/drawingml/2006/main">
            <a:pPr>
              <a:defRPr sz="7050" b="1">
                <a:solidFill>
                  <a:srgbClr val="4959DD"/>
                </a:solidFill>
                <a:latin typeface="Arial"/>
                <a:ea typeface="Arial"/>
                <a:cs typeface="Arial"/>
              </a:defRPr>
            </a:pPr>
            <a:r>
              <a:rPr sz="7050" b="1">
                <a:solidFill>
                  <a:srgbClr val="4959DD"/>
                </a:solidFill>
                <a:latin typeface="Arial"/>
                <a:ea typeface="Arial"/>
                <a:cs typeface="Arial"/>
              </a:rPr>
              <a:t>96</a:t>
            </a:r>
          </a:p>
        </p:txBody>
      </p:sp>
      <p:sp>
        <p:nvSpPr>
          <p:cNvPr id="4" name="">
            <a:extLst xmlns:a="http://schemas.openxmlformats.org/drawingml/2006/main">
              <a:ext uri="{FF2B5EF4-FFF2-40B4-BE49-F238E27FC236}">
                <a16:creationId xmlns:a16="http://schemas.microsoft.com/office/drawing/2014/main" id="{72A98446-6EE0-4EC6-A1A1-46EBD7231DAB}"/>
              </a:ext>
            </a:extLst>
          </p:cNvPr>
          <p:cNvSpPr>
            <a:spLocks xmlns:a="http://schemas.openxmlformats.org/drawingml/2006/main" noGrp="1"/>
          </p:cNvSpPr>
          <p:nvPr/>
        </p:nvSpPr>
        <p:spPr>
          <a:xfrm xmlns:a="http://schemas.openxmlformats.org/drawingml/2006/main">
            <a:off x="609600" y="3048000"/>
            <a:ext cx="461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82034"/>
                </a:solidFill>
                <a:latin typeface="Arial"/>
                <a:ea typeface="Arial"/>
                <a:cs typeface="Arial"/>
              </a:defRPr>
            </a:defPPr>
          </a:lstStyle>
          <a:p xmlns:a="http://schemas.openxmlformats.org/drawingml/2006/main">
            <a:pPr>
              <a:defRPr sz="2100" b="1">
                <a:solidFill>
                  <a:srgbClr val="182034"/>
                </a:solidFill>
                <a:latin typeface="Arial"/>
                <a:ea typeface="Arial"/>
                <a:cs typeface="Arial"/>
              </a:defRPr>
            </a:pPr>
            <a:r>
              <a:rPr sz="2100" b="1">
                <a:solidFill>
                  <a:srgbClr val="182034"/>
                </a:solidFill>
                <a:latin typeface="Arial"/>
                <a:ea typeface="Arial"/>
                <a:cs typeface="Arial"/>
              </a:rPr>
              <a:t>automated verification checks</a:t>
            </a:r>
          </a:p>
        </p:txBody>
      </p:sp>
      <p:sp>
        <p:nvSpPr>
          <p:cNvPr id="5" name="">
            <a:extLst xmlns:a="http://schemas.openxmlformats.org/drawingml/2006/main">
              <a:ext uri="{FF2B5EF4-FFF2-40B4-BE49-F238E27FC236}">
                <a16:creationId xmlns:a16="http://schemas.microsoft.com/office/drawing/2014/main" id="{610C42FC-1437-4B0F-922C-3807293C5133}"/>
              </a:ext>
            </a:extLst>
          </p:cNvPr>
          <p:cNvSpPr>
            <a:spLocks xmlns:a="http://schemas.openxmlformats.org/drawingml/2006/main" noGrp="1"/>
          </p:cNvSpPr>
          <p:nvPr/>
        </p:nvSpPr>
        <p:spPr>
          <a:xfrm xmlns:a="http://schemas.openxmlformats.org/drawingml/2006/main">
            <a:off x="609600" y="4162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182034"/>
                </a:solidFill>
                <a:latin typeface="Arial"/>
                <a:ea typeface="Arial"/>
                <a:cs typeface="Arial"/>
              </a:defRPr>
            </a:defPPr>
          </a:lstStyle>
          <a:p xmlns:a="http://schemas.openxmlformats.org/drawingml/2006/main">
            <a:pPr>
              <a:defRPr sz="2250" b="1">
                <a:solidFill>
                  <a:srgbClr val="182034"/>
                </a:solidFill>
                <a:latin typeface="Arial"/>
                <a:ea typeface="Arial"/>
                <a:cs typeface="Arial"/>
              </a:defRPr>
            </a:pPr>
            <a:r>
              <a:rPr sz="2250" b="1">
                <a:solidFill>
                  <a:srgbClr val="182034"/>
                </a:solidFill>
                <a:latin typeface="Arial"/>
                <a:ea typeface="Arial"/>
                <a:cs typeface="Arial"/>
              </a:rPr>
              <a:t>2 Electron UI scenarios</a:t>
            </a:r>
          </a:p>
        </p:txBody>
      </p:sp>
      <p:sp>
        <p:nvSpPr>
          <p:cNvPr id="6" name="">
            <a:extLst xmlns:a="http://schemas.openxmlformats.org/drawingml/2006/main">
              <a:ext uri="{FF2B5EF4-FFF2-40B4-BE49-F238E27FC236}">
                <a16:creationId xmlns:a16="http://schemas.microsoft.com/office/drawing/2014/main" id="{F2AC3751-631A-4BB4-B98A-843F01E608DA}"/>
              </a:ext>
            </a:extLst>
          </p:cNvPr>
          <p:cNvSpPr>
            <a:spLocks xmlns:a="http://schemas.openxmlformats.org/drawingml/2006/main" noGrp="1"/>
          </p:cNvSpPr>
          <p:nvPr/>
        </p:nvSpPr>
        <p:spPr>
          <a:xfrm xmlns:a="http://schemas.openxmlformats.org/drawingml/2006/main">
            <a:off x="609600" y="53340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36078"/>
                </a:solidFill>
                <a:latin typeface="Arial"/>
                <a:ea typeface="Arial"/>
                <a:cs typeface="Arial"/>
              </a:defRPr>
            </a:defPPr>
          </a:lstStyle>
          <a:p xmlns:a="http://schemas.openxmlformats.org/drawingml/2006/main">
            <a:pPr>
              <a:defRPr sz="1875" b="0">
                <a:solidFill>
                  <a:srgbClr val="536078"/>
                </a:solidFill>
                <a:latin typeface="Arial"/>
                <a:ea typeface="Arial"/>
                <a:cs typeface="Arial"/>
              </a:defRPr>
            </a:pPr>
            <a:r>
              <a:rPr sz="1875" b="0">
                <a:solidFill>
                  <a:srgbClr val="536078"/>
                </a:solidFill>
                <a:latin typeface="Arial"/>
                <a:ea typeface="Arial"/>
                <a:cs typeface="Arial"/>
              </a:rPr>
              <a:t>Synthetic data on Windows 11</a:t>
            </a:r>
          </a:p>
        </p:txBody>
      </p:sp>
      <p:sp>
        <p:nvSpPr>
          <p:cNvPr id="7" name="">
            <a:extLst xmlns:a="http://schemas.openxmlformats.org/drawingml/2006/main">
              <a:ext uri="{FF2B5EF4-FFF2-40B4-BE49-F238E27FC236}">
                <a16:creationId xmlns:a16="http://schemas.microsoft.com/office/drawing/2014/main" id="{E9CF97E2-9240-444C-A36E-4A5B6819162B}"/>
              </a:ext>
            </a:extLst>
          </p:cNvPr>
          <p:cNvSpPr>
            <a:spLocks xmlns:a="http://schemas.openxmlformats.org/drawingml/2006/main" noGrp="1"/>
          </p:cNvSpPr>
          <p:nvPr/>
        </p:nvSpPr>
        <p:spPr>
          <a:xfrm xmlns:a="http://schemas.openxmlformats.org/drawingml/2006/main">
            <a:off x="6191250" y="1809750"/>
            <a:ext cx="5334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82034"/>
                </a:solidFill>
                <a:latin typeface="Arial"/>
                <a:ea typeface="Arial"/>
                <a:cs typeface="Arial"/>
              </a:defRPr>
            </a:defPPr>
          </a:lstStyle>
          <a:p xmlns:a="http://schemas.openxmlformats.org/drawingml/2006/main">
            <a:pPr>
              <a:defRPr sz="2100" b="0">
                <a:solidFill>
                  <a:srgbClr val="182034"/>
                </a:solidFill>
                <a:latin typeface="Arial"/>
                <a:ea typeface="Arial"/>
                <a:cs typeface="Arial"/>
              </a:defRPr>
            </a:pPr>
            <a:r>
              <a:rPr sz="2100" b="0">
                <a:solidFill>
                  <a:srgbClr val="182034"/>
                </a:solidFill>
                <a:latin typeface="Arial"/>
                <a:ea typeface="Arial"/>
                <a:cs typeface="Arial"/>
              </a:rPr>
              <a:t>Quantity and duplicate regressions</a:t>
            </a:r>
          </a:p>
          <a:p xmlns:a="http://schemas.openxmlformats.org/drawingml/2006/main">
            <a:pPr>
              <a:defRPr sz="2100" b="0">
                <a:solidFill>
                  <a:srgbClr val="182034"/>
                </a:solidFill>
                <a:latin typeface="Arial"/>
                <a:ea typeface="Arial"/>
                <a:cs typeface="Arial"/>
              </a:defRPr>
            </a:pPr>
            <a:r>
              <a:rPr sz="2100" b="0">
                <a:solidFill>
                  <a:srgbClr val="182034"/>
                </a:solidFill>
                <a:latin typeface="Arial"/>
                <a:ea typeface="Arial"/>
                <a:cs typeface="Arial"/>
              </a:rPr>
              <a:t>Transactional imports and grouping</a:t>
            </a:r>
          </a:p>
          <a:p xmlns:a="http://schemas.openxmlformats.org/drawingml/2006/main">
            <a:pPr>
              <a:defRPr sz="2100" b="0">
                <a:solidFill>
                  <a:srgbClr val="182034"/>
                </a:solidFill>
                <a:latin typeface="Arial"/>
                <a:ea typeface="Arial"/>
                <a:cs typeface="Arial"/>
              </a:defRPr>
            </a:pPr>
            <a:r>
              <a:rPr sz="2100" b="0">
                <a:solidFill>
                  <a:srgbClr val="182034"/>
                </a:solidFill>
                <a:latin typeface="Arial"/>
                <a:ea typeface="Arial"/>
                <a:cs typeface="Arial"/>
              </a:rPr>
              <a:t>Verified backup and restoration</a:t>
            </a:r>
          </a:p>
          <a:p xmlns:a="http://schemas.openxmlformats.org/drawingml/2006/main">
            <a:pPr>
              <a:defRPr sz="2100" b="0">
                <a:solidFill>
                  <a:srgbClr val="182034"/>
                </a:solidFill>
                <a:latin typeface="Arial"/>
                <a:ea typeface="Arial"/>
                <a:cs typeface="Arial"/>
              </a:defRPr>
            </a:pPr>
            <a:r>
              <a:rPr sz="2100" b="0">
                <a:solidFill>
                  <a:srgbClr val="182034"/>
                </a:solidFill>
                <a:latin typeface="Arial"/>
                <a:ea typeface="Arial"/>
                <a:cs typeface="Arial"/>
              </a:rPr>
              <a:t>A4 and multi-page PDF generation</a:t>
            </a:r>
          </a:p>
          <a:p xmlns:a="http://schemas.openxmlformats.org/drawingml/2006/main">
            <a:pPr>
              <a:defRPr sz="2100" b="0">
                <a:solidFill>
                  <a:srgbClr val="182034"/>
                </a:solidFill>
                <a:latin typeface="Arial"/>
                <a:ea typeface="Arial"/>
                <a:cs typeface="Arial"/>
              </a:defRPr>
            </a:pPr>
            <a:r>
              <a:rPr sz="2100" b="0">
                <a:solidFill>
                  <a:srgbClr val="182034"/>
                </a:solidFill>
                <a:latin typeface="Arial"/>
                <a:ea typeface="Arial"/>
                <a:cs typeface="Arial"/>
              </a:rPr>
              <a:t>Sandboxed renderer and validated IPC</a:t>
            </a:r>
          </a:p>
        </p:txBody>
      </p:sp>
    </p:spTree>
    <p:extLst>
      <p:ext uri="{BB962C8B-B14F-4D97-AF65-F5344CB8AC3E}">
        <p14:creationId xmlns:p14="http://schemas.microsoft.com/office/powerpoint/2010/main" val="13023654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6DADCF-1880-407D-8316-564B947778D8}"/>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Limits and next validation</a:t>
            </a:r>
          </a:p>
        </p:txBody>
      </p:sp>
      <p:sp>
        <p:nvSpPr>
          <p:cNvPr id="2" name="">
            <a:extLst xmlns:a="http://schemas.openxmlformats.org/drawingml/2006/main">
              <a:ext uri="{FF2B5EF4-FFF2-40B4-BE49-F238E27FC236}">
                <a16:creationId xmlns:a16="http://schemas.microsoft.com/office/drawing/2014/main" id="{2A72AA6E-9536-4B39-A274-9BED566C32F2}"/>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979857D-E7A4-453A-BA9E-50F2CFDABB1E}"/>
              </a:ext>
            </a:extLst>
          </p:cNvPr>
          <p:cNvSpPr>
            <a:spLocks xmlns:a="http://schemas.openxmlformats.org/drawingml/2006/main" noGrp="1"/>
          </p:cNvSpPr>
          <p:nvPr/>
        </p:nvSpPr>
        <p:spPr>
          <a:xfrm xmlns:a="http://schemas.openxmlformats.org/drawingml/2006/main">
            <a:off x="609600" y="161925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82034"/>
                </a:solidFill>
                <a:latin typeface="Arial"/>
                <a:ea typeface="Arial"/>
                <a:cs typeface="Arial"/>
              </a:defRPr>
            </a:defPPr>
          </a:lstStyle>
          <a:p xmlns:a="http://schemas.openxmlformats.org/drawingml/2006/main">
            <a:pPr>
              <a:defRPr sz="2700" b="1">
                <a:solidFill>
                  <a:srgbClr val="182034"/>
                </a:solidFill>
                <a:latin typeface="Arial"/>
                <a:ea typeface="Arial"/>
                <a:cs typeface="Arial"/>
              </a:defRPr>
            </a:pPr>
            <a:r>
              <a:rPr sz="2700" b="1">
                <a:solidFill>
                  <a:srgbClr val="182034"/>
                </a:solidFill>
                <a:latin typeface="Arial"/>
                <a:ea typeface="Arial"/>
                <a:cs typeface="Arial"/>
              </a:rPr>
              <a:t>Validate in the factory</a:t>
            </a:r>
          </a:p>
        </p:txBody>
      </p:sp>
      <p:sp>
        <p:nvSpPr>
          <p:cNvPr id="4" name="">
            <a:extLst xmlns:a="http://schemas.openxmlformats.org/drawingml/2006/main">
              <a:ext uri="{FF2B5EF4-FFF2-40B4-BE49-F238E27FC236}">
                <a16:creationId xmlns:a16="http://schemas.microsoft.com/office/drawing/2014/main" id="{2F75AD15-EF1D-48C1-837E-5D82DC6133D5}"/>
              </a:ext>
            </a:extLst>
          </p:cNvPr>
          <p:cNvSpPr>
            <a:spLocks xmlns:a="http://schemas.openxmlformats.org/drawingml/2006/main" noGrp="1"/>
          </p:cNvSpPr>
          <p:nvPr/>
        </p:nvSpPr>
        <p:spPr>
          <a:xfrm xmlns:a="http://schemas.openxmlformats.org/drawingml/2006/main">
            <a:off x="609600" y="2647950"/>
            <a:ext cx="4953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36078"/>
                </a:solidFill>
                <a:latin typeface="Arial"/>
                <a:ea typeface="Arial"/>
                <a:cs typeface="Arial"/>
              </a:defRPr>
            </a:defPPr>
          </a:lstStyle>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Live export formats</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Physical printers</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Operator usability</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Measured before-and-after workflow</a:t>
            </a:r>
          </a:p>
        </p:txBody>
      </p:sp>
      <p:sp>
        <p:nvSpPr>
          <p:cNvPr id="5" name="">
            <a:extLst xmlns:a="http://schemas.openxmlformats.org/drawingml/2006/main">
              <a:ext uri="{FF2B5EF4-FFF2-40B4-BE49-F238E27FC236}">
                <a16:creationId xmlns:a16="http://schemas.microsoft.com/office/drawing/2014/main" id="{55A784AC-FFAE-4861-B62A-CF648DCBC914}"/>
              </a:ext>
            </a:extLst>
          </p:cNvPr>
          <p:cNvSpPr>
            <a:spLocks xmlns:a="http://schemas.openxmlformats.org/drawingml/2006/main" noGrp="1"/>
          </p:cNvSpPr>
          <p:nvPr/>
        </p:nvSpPr>
        <p:spPr>
          <a:xfrm xmlns:a="http://schemas.openxmlformats.org/drawingml/2006/main">
            <a:off x="6705600" y="161925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182034"/>
                </a:solidFill>
                <a:latin typeface="Arial"/>
                <a:ea typeface="Arial"/>
                <a:cs typeface="Arial"/>
              </a:defRPr>
            </a:defPPr>
          </a:lstStyle>
          <a:p xmlns:a="http://schemas.openxmlformats.org/drawingml/2006/main">
            <a:pPr>
              <a:defRPr sz="2700" b="1">
                <a:solidFill>
                  <a:srgbClr val="182034"/>
                </a:solidFill>
                <a:latin typeface="Arial"/>
                <a:ea typeface="Arial"/>
                <a:cs typeface="Arial"/>
              </a:defRPr>
            </a:pPr>
            <a:r>
              <a:rPr sz="2700" b="1">
                <a:solidFill>
                  <a:srgbClr val="182034"/>
                </a:solidFill>
                <a:latin typeface="Arial"/>
                <a:ea typeface="Arial"/>
                <a:cs typeface="Arial"/>
              </a:rPr>
              <a:t>Next development</a:t>
            </a:r>
          </a:p>
        </p:txBody>
      </p:sp>
      <p:sp>
        <p:nvSpPr>
          <p:cNvPr id="6" name="">
            <a:extLst xmlns:a="http://schemas.openxmlformats.org/drawingml/2006/main">
              <a:ext uri="{FF2B5EF4-FFF2-40B4-BE49-F238E27FC236}">
                <a16:creationId xmlns:a16="http://schemas.microsoft.com/office/drawing/2014/main" id="{FE11DCC6-F280-4946-B65F-87E39E649152}"/>
              </a:ext>
            </a:extLst>
          </p:cNvPr>
          <p:cNvSpPr>
            <a:spLocks xmlns:a="http://schemas.openxmlformats.org/drawingml/2006/main" noGrp="1"/>
          </p:cNvSpPr>
          <p:nvPr/>
        </p:nvSpPr>
        <p:spPr>
          <a:xfrm xmlns:a="http://schemas.openxmlformats.org/drawingml/2006/main">
            <a:off x="6705600" y="264795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36078"/>
                </a:solidFill>
                <a:latin typeface="Arial"/>
                <a:ea typeface="Arial"/>
                <a:cs typeface="Arial"/>
              </a:defRPr>
            </a:defPPr>
          </a:lstStyle>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Signed Windows distribution</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More anonymized fixtures</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Factory pilot feedback</a:t>
            </a:r>
          </a:p>
          <a:p xmlns:a="http://schemas.openxmlformats.org/drawingml/2006/main">
            <a:pPr>
              <a:defRPr sz="2250" b="0">
                <a:solidFill>
                  <a:srgbClr val="536078"/>
                </a:solidFill>
                <a:latin typeface="Arial"/>
                <a:ea typeface="Arial"/>
                <a:cs typeface="Arial"/>
              </a:defRPr>
            </a:pPr>
            <a:r>
              <a:rPr sz="2250" b="0">
                <a:solidFill>
                  <a:srgbClr val="536078"/>
                </a:solidFill>
                <a:latin typeface="Arial"/>
                <a:ea typeface="Arial"/>
                <a:cs typeface="Arial"/>
              </a:rPr>
              <a:t>Broader compatibility testing</a:t>
            </a:r>
          </a:p>
        </p:txBody>
      </p:sp>
      <p:sp>
        <p:nvSpPr>
          <p:cNvPr id="7" name="">
            <a:extLst xmlns:a="http://schemas.openxmlformats.org/drawingml/2006/main">
              <a:ext uri="{FF2B5EF4-FFF2-40B4-BE49-F238E27FC236}">
                <a16:creationId xmlns:a16="http://schemas.microsoft.com/office/drawing/2014/main" id="{6F5285A7-EBB3-4673-AFEF-46EB3E333A22}"/>
              </a:ext>
            </a:extLst>
          </p:cNvPr>
          <p:cNvSpPr>
            <a:spLocks xmlns:a="http://schemas.openxmlformats.org/drawingml/2006/main" noGrp="1"/>
          </p:cNvSpPr>
          <p:nvPr/>
        </p:nvSpPr>
        <p:spPr>
          <a:xfrm xmlns:a="http://schemas.openxmlformats.org/drawingml/2006/main">
            <a:off x="609600" y="5791200"/>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4959DD"/>
                </a:solidFill>
                <a:latin typeface="Arial"/>
                <a:ea typeface="Arial"/>
                <a:cs typeface="Arial"/>
              </a:defRPr>
            </a:defPPr>
          </a:lstStyle>
          <a:p xmlns:a="http://schemas.openxmlformats.org/drawingml/2006/main">
            <a:pPr>
              <a:defRPr sz="1875" b="1">
                <a:solidFill>
                  <a:srgbClr val="4959DD"/>
                </a:solidFill>
                <a:latin typeface="Arial"/>
                <a:ea typeface="Arial"/>
                <a:cs typeface="Arial"/>
              </a:defRPr>
            </a:pPr>
            <a:r>
              <a:rPr sz="1875" b="1">
                <a:solidFill>
                  <a:srgbClr val="4959DD"/>
                </a:solidFill>
                <a:latin typeface="Arial"/>
                <a:ea typeface="Arial"/>
                <a:cs typeface="Arial"/>
              </a:rPr>
              <a:t>No live API integration or verified factory time-saving claim.</a:t>
            </a:r>
          </a:p>
        </p:txBody>
      </p:sp>
    </p:spTree>
    <p:extLst>
      <p:ext uri="{BB962C8B-B14F-4D97-AF65-F5344CB8AC3E}">
        <p14:creationId xmlns:p14="http://schemas.microsoft.com/office/powerpoint/2010/main" val="12470982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BC98DE-F7DE-4375-A4F9-144B7DD81BA2}"/>
              </a:ext>
            </a:extLst>
          </p:cNvPr>
          <p:cNvSpPr>
            <a:spLocks xmlns:a="http://schemas.openxmlformats.org/drawingml/2006/main" noGrp="1"/>
          </p:cNvSpPr>
          <p:nvPr/>
        </p:nvSpPr>
        <p:spPr>
          <a:xfrm xmlns:a="http://schemas.openxmlformats.org/drawingml/2006/main">
            <a:off x="609600" y="42862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82034"/>
                </a:solidFill>
                <a:latin typeface="Arial"/>
                <a:ea typeface="Arial"/>
                <a:cs typeface="Arial"/>
              </a:defRPr>
            </a:defPPr>
          </a:lstStyle>
          <a:p xmlns:a="http://schemas.openxmlformats.org/drawingml/2006/main">
            <a:pPr>
              <a:defRPr sz="3300" b="1">
                <a:solidFill>
                  <a:srgbClr val="182034"/>
                </a:solidFill>
                <a:latin typeface="Arial"/>
                <a:ea typeface="Arial"/>
                <a:cs typeface="Arial"/>
              </a:defRPr>
            </a:pPr>
            <a:r>
              <a:rPr sz="3300" b="1">
                <a:solidFill>
                  <a:srgbClr val="182034"/>
                </a:solidFill>
                <a:latin typeface="Arial"/>
                <a:ea typeface="Arial"/>
                <a:cs typeface="Arial"/>
              </a:rPr>
              <a:t>Demonstration</a:t>
            </a:r>
          </a:p>
        </p:txBody>
      </p:sp>
      <p:sp>
        <p:nvSpPr>
          <p:cNvPr id="2" name="">
            <a:extLst xmlns:a="http://schemas.openxmlformats.org/drawingml/2006/main">
              <a:ext uri="{FF2B5EF4-FFF2-40B4-BE49-F238E27FC236}">
                <a16:creationId xmlns:a16="http://schemas.microsoft.com/office/drawing/2014/main" id="{19D36F63-FAA9-44DC-82BC-7EE449775755}"/>
              </a:ext>
            </a:extLst>
          </p:cNvPr>
          <p:cNvSpPr>
            <a:spLocks xmlns:a="http://schemas.openxmlformats.org/drawingml/2006/main" noGrp="1"/>
          </p:cNvSpPr>
          <p:nvPr/>
        </p:nvSpPr>
        <p:spPr>
          <a:xfrm xmlns:a="http://schemas.openxmlformats.org/drawingml/2006/main">
            <a:off x="112395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536078"/>
                </a:solidFill>
                <a:latin typeface="Arial"/>
                <a:ea typeface="Arial"/>
                <a:cs typeface="Arial"/>
              </a:defRPr>
            </a:defPPr>
          </a:lstStyle>
          <a:p xmlns:a="http://schemas.openxmlformats.org/drawingml/2006/main">
            <a:pPr>
              <a:defRPr sz="1200" b="0">
                <a:solidFill>
                  <a:srgbClr val="536078"/>
                </a:solidFill>
                <a:latin typeface="Arial"/>
                <a:ea typeface="Arial"/>
                <a:cs typeface="Arial"/>
              </a:defRPr>
            </a:pPr>
            <a:r>
              <a:rPr sz="1200" b="0">
                <a:solidFill>
                  <a:srgbClr val="536078"/>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529D9928-F181-476A-ADF6-19D64D2BD41B}"/>
              </a:ext>
            </a:extLst>
          </p:cNvPr>
          <p:cNvPicPr>
            <a:picLocks xmlns:a="http://schemas.openxmlformats.org/drawingml/2006/main" noChangeAspect="1"/>
          </p:cNvPicPr>
          <p:nvPr/>
        </p:nvPicPr>
        <p:blipFill>
          <a:blip xmlns:r="http://schemas.openxmlformats.org/officeDocument/2006/relationships" xmlns:a="http://schemas.openxmlformats.org/drawingml/2006/main" r:embed="R34b329adb0d94c2a"/>
          <a:stretch xmlns:a="http://schemas.openxmlformats.org/drawingml/2006/main"/>
        </p:blipFill>
        <p:spPr>
          <a:xfrm xmlns:a="http://schemas.openxmlformats.org/drawingml/2006/main">
            <a:off x="609600" y="1475924"/>
            <a:ext cx="7000875" cy="457290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322E0B9-2513-4759-B1CD-C592DC29A9F5}"/>
              </a:ext>
            </a:extLst>
          </p:cNvPr>
          <p:cNvSpPr>
            <a:spLocks xmlns:a="http://schemas.openxmlformats.org/drawingml/2006/main" noGrp="1"/>
          </p:cNvSpPr>
          <p:nvPr/>
        </p:nvSpPr>
        <p:spPr>
          <a:xfrm xmlns:a="http://schemas.openxmlformats.org/drawingml/2006/main">
            <a:off x="8001000" y="1876425"/>
            <a:ext cx="3524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2034"/>
                </a:solidFill>
                <a:latin typeface="Arial"/>
                <a:ea typeface="Arial"/>
                <a:cs typeface="Arial"/>
              </a:defRPr>
            </a:defPPr>
          </a:lstStyle>
          <a:p xmlns:a="http://schemas.openxmlformats.org/drawingml/2006/main">
            <a:pPr>
              <a:defRPr sz="2325" b="1">
                <a:solidFill>
                  <a:srgbClr val="182034"/>
                </a:solidFill>
                <a:latin typeface="Arial"/>
                <a:ea typeface="Arial"/>
                <a:cs typeface="Arial"/>
              </a:defRPr>
            </a:pPr>
            <a:r>
              <a:rPr sz="2325" b="1">
                <a:solidFill>
                  <a:srgbClr val="182034"/>
                </a:solidFill>
                <a:latin typeface="Arial"/>
                <a:ea typeface="Arial"/>
                <a:cs typeface="Arial"/>
              </a:rPr>
              <a:t>Import a sample</a:t>
            </a:r>
          </a:p>
          <a:p xmlns:a="http://schemas.openxmlformats.org/drawingml/2006/main">
            <a:pPr>
              <a:defRPr sz="2325" b="1">
                <a:solidFill>
                  <a:srgbClr val="182034"/>
                </a:solidFill>
                <a:latin typeface="Arial"/>
                <a:ea typeface="Arial"/>
                <a:cs typeface="Arial"/>
              </a:defRPr>
            </a:pPr>
            <a:r>
              <a:rPr sz="2325" b="1">
                <a:solidFill>
                  <a:srgbClr val="182034"/>
                </a:solidFill>
                <a:latin typeface="Arial"/>
                <a:ea typeface="Arial"/>
                <a:cs typeface="Arial"/>
              </a:rPr>
              <a:t>Resolve one issue</a:t>
            </a:r>
          </a:p>
          <a:p xmlns:a="http://schemas.openxmlformats.org/drawingml/2006/main">
            <a:pPr>
              <a:defRPr sz="2325" b="1">
                <a:solidFill>
                  <a:srgbClr val="182034"/>
                </a:solidFill>
                <a:latin typeface="Arial"/>
                <a:ea typeface="Arial"/>
                <a:cs typeface="Arial"/>
              </a:defRPr>
            </a:pPr>
            <a:r>
              <a:rPr sz="2325" b="1">
                <a:solidFill>
                  <a:srgbClr val="182034"/>
                </a:solidFill>
                <a:latin typeface="Arial"/>
                <a:ea typeface="Arial"/>
                <a:cs typeface="Arial"/>
              </a:rPr>
              <a:t>Approve 61 units</a:t>
            </a:r>
          </a:p>
          <a:p xmlns:a="http://schemas.openxmlformats.org/drawingml/2006/main">
            <a:pPr>
              <a:defRPr sz="2325" b="1">
                <a:solidFill>
                  <a:srgbClr val="182034"/>
                </a:solidFill>
                <a:latin typeface="Arial"/>
                <a:ea typeface="Arial"/>
                <a:cs typeface="Arial"/>
              </a:defRPr>
            </a:pPr>
            <a:r>
              <a:rPr sz="2325" b="1">
                <a:solidFill>
                  <a:srgbClr val="182034"/>
                </a:solidFill>
                <a:latin typeface="Arial"/>
                <a:ea typeface="Arial"/>
                <a:cs typeface="Arial"/>
              </a:rPr>
              <a:t>Export the tailor slip</a:t>
            </a:r>
          </a:p>
          <a:p xmlns:a="http://schemas.openxmlformats.org/drawingml/2006/main">
            <a:pPr>
              <a:defRPr sz="2325" b="1">
                <a:solidFill>
                  <a:srgbClr val="182034"/>
                </a:solidFill>
                <a:latin typeface="Arial"/>
                <a:ea typeface="Arial"/>
                <a:cs typeface="Arial"/>
              </a:defRPr>
            </a:pPr>
            <a:r>
              <a:rPr sz="2325" b="1">
                <a:solidFill>
                  <a:srgbClr val="182034"/>
                </a:solidFill>
                <a:latin typeface="Arial"/>
                <a:ea typeface="Arial"/>
                <a:cs typeface="Arial"/>
              </a:rPr>
              <a:t>Reopen and restore</a:t>
            </a:r>
          </a:p>
        </p:txBody>
      </p:sp>
      <p:sp>
        <p:nvSpPr>
          <p:cNvPr id="5" name="">
            <a:extLst xmlns:a="http://schemas.openxmlformats.org/drawingml/2006/main">
              <a:ext uri="{FF2B5EF4-FFF2-40B4-BE49-F238E27FC236}">
                <a16:creationId xmlns:a16="http://schemas.microsoft.com/office/drawing/2014/main" id="{C0F7EBE7-7AFC-4143-BA46-EFFDAA1252F6}"/>
              </a:ext>
            </a:extLst>
          </p:cNvPr>
          <p:cNvSpPr>
            <a:spLocks xmlns:a="http://schemas.openxmlformats.org/drawingml/2006/main" noGrp="1"/>
          </p:cNvSpPr>
          <p:nvPr/>
        </p:nvSpPr>
        <p:spPr>
          <a:xfrm xmlns:a="http://schemas.openxmlformats.org/drawingml/2006/main">
            <a:off x="8001000" y="55721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4959DD"/>
                </a:solidFill>
                <a:latin typeface="Arial"/>
                <a:ea typeface="Arial"/>
                <a:cs typeface="Arial"/>
              </a:defRPr>
            </a:defPPr>
          </a:lstStyle>
          <a:p xmlns:a="http://schemas.openxmlformats.org/drawingml/2006/main">
            <a:pPr>
              <a:defRPr sz="1875" b="1">
                <a:solidFill>
                  <a:srgbClr val="4959DD"/>
                </a:solidFill>
                <a:latin typeface="Arial"/>
                <a:ea typeface="Arial"/>
                <a:cs typeface="Arial"/>
              </a:defRPr>
            </a:pPr>
            <a:r>
              <a:rPr sz="1875" b="1">
                <a:solidFill>
                  <a:srgbClr val="4959DD"/>
                </a:solidFill>
                <a:latin typeface="Arial"/>
                <a:ea typeface="Arial"/>
                <a:cs typeface="Arial"/>
              </a:rPr>
              <a:t>Muhammad Tayyab</a:t>
            </a:r>
          </a:p>
        </p:txBody>
      </p:sp>
    </p:spTree>
    <p:extLst>
      <p:ext uri="{BB962C8B-B14F-4D97-AF65-F5344CB8AC3E}">
        <p14:creationId xmlns:p14="http://schemas.microsoft.com/office/powerpoint/2010/main" val="667910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2026-10-16T15:18:38.9680000Z</dcterms:created>
  <dcterms:modified xsi:type="dcterms:W3CDTF">2026-10-16T15:18:38.9690000Z</dcterms:modified>
</coreProperties>
</file>